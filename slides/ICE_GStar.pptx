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ICE, In-Context Exact Memory: exact memory for linear attention language models, without full attention. Phung Gia Huy.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Linear attention language models like Gated DeltaNet are cheap, because their memory has a fixed size. But they forget exact details, like a config value from 2,000 tokens ago. Hybrids fix this by adding full attention layers back, and full attention's cache grows with every token.
ICE takes a different route. An exact lookup on the CPU asks: where did this phrase appear before, and what came next? It proposes up to 34 candidates. A small learned verifier, with 2,900 parameters, weighs each candidate against the model's own prediction, so an implausible candidate gets little weight. The model has no full attention layer at all.
Why should this work? Prior work found that most of the quality gap to full attention is recall, and that fixed-state models cannot copy. So my expectation: hybrids today use one full attention layer per 3 or 7 linear attention layers; if the lookup does the recall, we can use fewer full attention layers and keep the same quality.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goes beyond the expectation: no full attention layers, yet better than the 7:1 hybrid.
On held-out Python code and FineWeb-Edu text, linear attention plus ICE has the lowest perplexity: 5% lower than the hybrid on code and 6% on text. On the needle-in-a-haystack test, a random 4-digit code hidden in 4,000 tokens of text, it gets the whole code right 98% of the time; the hybrid gets 2%. And in our conflict test, where several servers share the same key, port, it picks the right server's value 82% of the time; both baselines are at chance, 9%.
Three more results. First, ICE completes 64% of repeated code lines exactly, against 41% for the hybrid. Second, ICE also helps the hybrid itself: its code perplexity drops by 6%. Third, it is safe when the lookup is wrong. On 35% of code tokens the lookup suggests the wrong token, and the verifier learns to ignore it: perplexity on those tokens is 24.7, against 24.9 for the same model without ICE. When there is nothing to copy, the model simply runs as normal.
Limitations: an exact lookup cannot help when a question is reworded, or when a value is later changed in a different form; then it copies the old value. Next: 3 times longer training, and pretrained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STAR_TITLE">
    <p:bg>
      <p:bgPr>
        <a:solidFill>
          <a:srgbClr val="731114"/>
        </a:solidFill>
      </p:bgPr>
    </p:bg>
    <p:spTree>
      <p:nvGrpSpPr>
        <p:cNvPr id="1" name=""/>
        <p:cNvGrpSpPr/>
        <p:nvPr/>
      </p:nvGrpSpPr>
      <p:grpSpPr>
        <a:xfrm>
          <a:off x="0" y="0"/>
          <a:ext cx="0" cy="0"/>
          <a:chOff x="0" y="0"/>
          <a:chExt cx="0" cy="0"/>
        </a:xfrm>
      </p:grpSpPr>
      <p:pic>
        <p:nvPicPr>
          <p:cNvPr id="2" name="Image 0" descr="/private/tmp/claude-501/-Users-phunghuy-code-gstar/a1fcb2a4-ae79-48f6-b6e8-350e5f8c37f0/scratchpad/tpl_unz/ppt/media/image11.png">    </p:cNvPr>
          <p:cNvPicPr>
            <a:picLocks noChangeAspect="1"/>
          </p:cNvPicPr>
          <p:nvPr/>
        </p:nvPicPr>
        <p:blipFill>
          <a:blip r:embed="rId1"/>
          <a:stretch>
            <a:fillRect/>
          </a:stretch>
        </p:blipFill>
        <p:spPr>
          <a:xfrm>
            <a:off x="502920" y="457200"/>
            <a:ext cx="566928" cy="62179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STAR_CONTENT">
    <p:bg>
      <p:bgPr>
        <a:solidFill>
          <a:srgbClr val="FFFFFF"/>
        </a:solidFill>
      </p:bgPr>
    </p:bg>
    <p:spTree>
      <p:nvGrpSpPr>
        <p:cNvPr id="1" name=""/>
        <p:cNvGrpSpPr/>
        <p:nvPr/>
      </p:nvGrpSpPr>
      <p:grpSpPr>
        <a:xfrm>
          <a:off x="0" y="0"/>
          <a:ext cx="0" cy="0"/>
          <a:chOff x="0" y="0"/>
          <a:chExt cx="0" cy="0"/>
        </a:xfrm>
      </p:grpSpPr>
      <p:pic>
        <p:nvPicPr>
          <p:cNvPr id="2" name="Image 0" descr="/private/tmp/claude-501/-Users-phunghuy-code-gstar/a1fcb2a4-ae79-48f6-b6e8-350e5f8c37f0/scratchpad/tpl_unz/ppt/media/image8.png">    </p:cNvPr>
          <p:cNvPicPr>
            <a:picLocks noChangeAspect="1"/>
          </p:cNvPicPr>
          <p:nvPr/>
        </p:nvPicPr>
        <p:blipFill>
          <a:blip r:embed="rId1"/>
          <a:stretch>
            <a:fillRect/>
          </a:stretch>
        </p:blipFill>
        <p:spPr>
          <a:xfrm>
            <a:off x="347472" y="164592"/>
            <a:ext cx="1188720" cy="416052"/>
          </a:xfrm>
          <a:prstGeom prst="rect">
            <a:avLst/>
          </a:prstGeom>
        </p:spPr>
      </p:pic>
      <p:sp>
        <p:nvSpPr>
          <p:cNvPr id="3" name="Text 0"/>
          <p:cNvSpPr/>
          <p:nvPr/>
        </p:nvSpPr>
        <p:spPr>
          <a:xfrm>
            <a:off x="365760" y="4773168"/>
            <a:ext cx="7680960" cy="228600"/>
          </a:xfrm>
          <a:prstGeom prst="rect">
            <a:avLst/>
          </a:prstGeom>
          <a:noFill/>
          <a:ln/>
        </p:spPr>
        <p:txBody>
          <a:bodyPr wrap="square" lIns="0" tIns="0" rIns="0" bIns="0" rtlCol="0" anchor="ctr"/>
          <a:lstStyle/>
          <a:p>
            <a:pPr indent="0" marL="0">
              <a:buNone/>
            </a:pPr>
            <a:r>
              <a:rPr lang="en-US" sz="800" dirty="0">
                <a:solidFill>
                  <a:srgbClr val="6A7280"/>
                </a:solidFill>
                <a:latin typeface="Arial" pitchFamily="34" charset="0"/>
                <a:ea typeface="Arial" pitchFamily="34" charset="-122"/>
                <a:cs typeface="Arial" pitchFamily="34" charset="-120"/>
              </a:rPr>
              <a:t>All models: 140M parameters · same 200M training tokens (FineWeb-Edu + CodeParrot Python) · 4K context · trained on H100</a:t>
            </a:r>
            <a:endParaRPr lang="en-US" sz="800" dirty="0"/>
          </a:p>
        </p:txBody>
      </p:sp>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A7280"/>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A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02920" y="1417320"/>
            <a:ext cx="7772400" cy="274320"/>
          </a:xfrm>
          <a:prstGeom prst="rect">
            <a:avLst/>
          </a:prstGeom>
          <a:noFill/>
          <a:ln/>
        </p:spPr>
        <p:txBody>
          <a:bodyPr wrap="square" lIns="0" tIns="0" rIns="0" bIns="0" rtlCol="0" anchor="t"/>
          <a:lstStyle/>
          <a:p>
            <a:pPr indent="0" marL="0">
              <a:buNone/>
            </a:pPr>
            <a:r>
              <a:rPr lang="en-US" sz="1200" b="1" spc="200" kern="0" dirty="0">
                <a:solidFill>
                  <a:srgbClr val="F2D7D9"/>
                </a:solidFill>
                <a:latin typeface="Arial" pitchFamily="34" charset="0"/>
                <a:ea typeface="Arial" pitchFamily="34" charset="-122"/>
                <a:cs typeface="Arial" pitchFamily="34" charset="-120"/>
              </a:rPr>
              <a:t>GSTAR BOOTCAMP 2026 · INDIVIDUAL PROJECT</a:t>
            </a:r>
            <a:endParaRPr lang="en-US" sz="1200" dirty="0"/>
          </a:p>
        </p:txBody>
      </p:sp>
      <p:sp>
        <p:nvSpPr>
          <p:cNvPr id="4" name="Text 1"/>
          <p:cNvSpPr txBox="1"/>
          <p:nvPr/>
        </p:nvSpPr>
        <p:spPr>
          <a:xfrm>
            <a:off x="502920" y="1783080"/>
            <a:ext cx="7863840" cy="1371600"/>
          </a:xfrm>
          <a:prstGeom prst="rect">
            <a:avLst/>
          </a:prstGeom>
          <a:noFill/>
          <a:ln/>
        </p:spPr>
        <p:txBody>
          <a:bodyPr wrap="square" lIns="0" tIns="0" rIns="0" bIns="0" rtlCol="0" anchor="t"/>
          <a:lstStyle/>
          <a:p>
            <a:pPr indent="0" marL="0">
              <a:buNone/>
            </a:pPr>
            <a:r>
              <a:rPr lang="en-US" sz="3400" b="1" dirty="0">
                <a:solidFill>
                  <a:srgbClr val="FFFFFF"/>
                </a:solidFill>
                <a:latin typeface="Lexend" pitchFamily="34" charset="0"/>
                <a:ea typeface="Lexend" pitchFamily="34" charset="-122"/>
                <a:cs typeface="Lexend" pitchFamily="34" charset="-120"/>
              </a:rPr>
              <a:t>ICE: In-Context Exact Memory</a:t>
            </a:r>
            <a:endParaRPr lang="en-US" sz="3400" dirty="0"/>
          </a:p>
          <a:p>
            <a:pPr indent="0" marL="0">
              <a:buNone/>
            </a:pPr>
            <a:r>
              <a:rPr lang="en-US" sz="2200" b="1" dirty="0">
                <a:solidFill>
                  <a:srgbClr val="F2D7D9"/>
                </a:solidFill>
                <a:latin typeface="Lexend" pitchFamily="34" charset="0"/>
                <a:ea typeface="Lexend" pitchFamily="34" charset="-122"/>
                <a:cs typeface="Lexend" pitchFamily="34" charset="-120"/>
              </a:rPr>
              <a:t>for Linear Attention Language Models</a:t>
            </a:r>
            <a:endParaRPr lang="en-US" sz="3400" dirty="0"/>
          </a:p>
        </p:txBody>
      </p:sp>
      <p:sp>
        <p:nvSpPr>
          <p:cNvPr id="5" name="Text 2"/>
          <p:cNvSpPr txBox="1"/>
          <p:nvPr/>
        </p:nvSpPr>
        <p:spPr>
          <a:xfrm>
            <a:off x="502920" y="3291840"/>
            <a:ext cx="7680960" cy="548640"/>
          </a:xfrm>
          <a:prstGeom prst="rect">
            <a:avLst/>
          </a:prstGeom>
          <a:noFill/>
          <a:ln/>
        </p:spPr>
        <p:txBody>
          <a:bodyPr wrap="square" lIns="0" tIns="0" rIns="0" bIns="0" rtlCol="0" anchor="t"/>
          <a:lstStyle/>
          <a:p>
            <a:pPr indent="0" marL="0">
              <a:buNone/>
            </a:pPr>
            <a:r>
              <a:rPr lang="en-US" sz="1400" dirty="0">
                <a:solidFill>
                  <a:srgbClr val="F2D7D9"/>
                </a:solidFill>
                <a:latin typeface="Arial" pitchFamily="34" charset="0"/>
                <a:ea typeface="Arial" pitchFamily="34" charset="-122"/>
                <a:cs typeface="Arial" pitchFamily="34" charset="-120"/>
              </a:rPr>
              <a:t>An exact lookup and a 2.9K-parameter verifier replace full attention</a:t>
            </a:r>
            <a:endParaRPr lang="en-US" sz="1400" dirty="0"/>
          </a:p>
        </p:txBody>
      </p:sp>
      <p:sp>
        <p:nvSpPr>
          <p:cNvPr id="6" name="Text 3"/>
          <p:cNvSpPr txBox="1"/>
          <p:nvPr/>
        </p:nvSpPr>
        <p:spPr>
          <a:xfrm>
            <a:off x="502920" y="4297680"/>
            <a:ext cx="5486400" cy="320040"/>
          </a:xfrm>
          <a:prstGeom prst="rect">
            <a:avLst/>
          </a:prstGeom>
          <a:noFill/>
          <a:ln/>
        </p:spPr>
        <p:txBody>
          <a:bodyPr wrap="square" lIns="0" tIns="0" rIns="0" bIns="0" rtlCol="0" anchor="t"/>
          <a:lstStyle/>
          <a:p>
            <a:pPr indent="0" marL="0">
              <a:buNone/>
            </a:pPr>
            <a:r>
              <a:rPr lang="en-US" sz="1400" dirty="0">
                <a:solidFill>
                  <a:srgbClr val="F2D7D9"/>
                </a:solidFill>
                <a:latin typeface="Arial" pitchFamily="34" charset="0"/>
                <a:ea typeface="Arial" pitchFamily="34" charset="-122"/>
                <a:cs typeface="Arial" pitchFamily="34" charset="-120"/>
              </a:rPr>
              <a:t>Student: </a:t>
            </a:r>
            <a:pPr indent="0" marL="0">
              <a:buNone/>
            </a:pPr>
            <a:r>
              <a:rPr lang="en-US" sz="1400" b="1" dirty="0">
                <a:solidFill>
                  <a:srgbClr val="FFFFFF"/>
                </a:solidFill>
                <a:latin typeface="Arial" pitchFamily="34" charset="0"/>
                <a:ea typeface="Arial" pitchFamily="34" charset="-122"/>
                <a:cs typeface="Arial" pitchFamily="34" charset="-120"/>
              </a:rPr>
              <a:t>Phung Gia Huy</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txBox="1"/>
          <p:nvPr/>
        </p:nvSpPr>
        <p:spPr>
          <a:xfrm>
            <a:off x="365760" y="713232"/>
            <a:ext cx="8412480" cy="457200"/>
          </a:xfrm>
          <a:prstGeom prst="rect">
            <a:avLst/>
          </a:prstGeom>
          <a:noFill/>
          <a:ln/>
        </p:spPr>
        <p:txBody>
          <a:bodyPr wrap="square" lIns="0" tIns="0" rIns="0" bIns="0" rtlCol="0" anchor="t"/>
          <a:lstStyle/>
          <a:p>
            <a:pPr indent="0" marL="0">
              <a:buNone/>
            </a:pPr>
            <a:r>
              <a:rPr lang="en-US" sz="2400" b="1" dirty="0">
                <a:solidFill>
                  <a:srgbClr val="731114"/>
                </a:solidFill>
                <a:latin typeface="Lexend" pitchFamily="34" charset="0"/>
                <a:ea typeface="Lexend" pitchFamily="34" charset="-122"/>
                <a:cs typeface="Lexend" pitchFamily="34" charset="-120"/>
              </a:rPr>
              <a:t>ICE: exact memory without full attention</a:t>
            </a:r>
            <a:endParaRPr lang="en-US" sz="2400" dirty="0"/>
          </a:p>
        </p:txBody>
      </p:sp>
      <p:sp>
        <p:nvSpPr>
          <p:cNvPr id="4" name="Text 1"/>
          <p:cNvSpPr txBox="1"/>
          <p:nvPr/>
        </p:nvSpPr>
        <p:spPr>
          <a:xfrm>
            <a:off x="365760" y="1207008"/>
            <a:ext cx="8412480" cy="502920"/>
          </a:xfrm>
          <a:prstGeom prst="rect">
            <a:avLst/>
          </a:prstGeom>
          <a:noFill/>
          <a:ln/>
        </p:spPr>
        <p:txBody>
          <a:bodyPr wrap="square" lIns="0" tIns="0" rIns="0" bIns="0" rtlCol="0" anchor="t"/>
          <a:lstStyle/>
          <a:p>
            <a:pPr indent="0" marL="0">
              <a:buNone/>
            </a:pPr>
            <a:r>
              <a:rPr lang="en-US" sz="1300" dirty="0">
                <a:solidFill>
                  <a:srgbClr val="4A5568"/>
                </a:solidFill>
                <a:latin typeface="Arial" pitchFamily="34" charset="0"/>
                <a:ea typeface="Arial" pitchFamily="34" charset="-122"/>
                <a:cs typeface="Arial" pitchFamily="34" charset="-120"/>
              </a:rPr>
              <a:t>Linear attention LMs (Gated DeltaNet) have </a:t>
            </a:r>
            <a:pPr indent="0" marL="0">
              <a:buNone/>
            </a:pPr>
            <a:r>
              <a:rPr lang="en-US" sz="1300" b="1" dirty="0">
                <a:solidFill>
                  <a:srgbClr val="18232D"/>
                </a:solidFill>
                <a:latin typeface="Arial" pitchFamily="34" charset="0"/>
                <a:ea typeface="Arial" pitchFamily="34" charset="-122"/>
                <a:cs typeface="Arial" pitchFamily="34" charset="-120"/>
              </a:rPr>
              <a:t>fixed-size memory</a:t>
            </a:r>
            <a:pPr indent="0" marL="0">
              <a:buNone/>
            </a:pPr>
            <a:r>
              <a:rPr lang="en-US" sz="1300" dirty="0">
                <a:solidFill>
                  <a:srgbClr val="4A5568"/>
                </a:solidFill>
                <a:latin typeface="Arial" pitchFamily="34" charset="0"/>
                <a:ea typeface="Arial" pitchFamily="34" charset="-122"/>
                <a:cs typeface="Arial" pitchFamily="34" charset="-120"/>
              </a:rPr>
              <a:t> but forget exact details, like a value seen 2,000 tokens ago. Hybrids add full attention back, and its cache </a:t>
            </a:r>
            <a:pPr indent="0" marL="0">
              <a:buNone/>
            </a:pPr>
            <a:r>
              <a:rPr lang="en-US" sz="1300" b="1" dirty="0">
                <a:solidFill>
                  <a:srgbClr val="18232D"/>
                </a:solidFill>
                <a:latin typeface="Arial" pitchFamily="34" charset="0"/>
                <a:ea typeface="Arial" pitchFamily="34" charset="-122"/>
                <a:cs typeface="Arial" pitchFamily="34" charset="-120"/>
              </a:rPr>
              <a:t>grows with every token</a:t>
            </a:r>
            <a:pPr indent="0" marL="0">
              <a:buNone/>
            </a:pPr>
            <a:r>
              <a:rPr lang="en-US" sz="1300" dirty="0">
                <a:solidFill>
                  <a:srgbClr val="4A5568"/>
                </a:solidFill>
                <a:latin typeface="Arial" pitchFamily="34" charset="0"/>
                <a:ea typeface="Arial" pitchFamily="34" charset="-122"/>
                <a:cs typeface="Arial" pitchFamily="34" charset="-120"/>
              </a:rPr>
              <a:t>.</a:t>
            </a:r>
            <a:endParaRPr lang="en-US" sz="1300" dirty="0"/>
          </a:p>
        </p:txBody>
      </p:sp>
      <p:sp>
        <p:nvSpPr>
          <p:cNvPr id="5" name="card 1"/>
          <p:cNvSpPr/>
          <p:nvPr/>
        </p:nvSpPr>
        <p:spPr>
          <a:xfrm>
            <a:off x="365760" y="1874520"/>
            <a:ext cx="1897380" cy="1645920"/>
          </a:xfrm>
          <a:prstGeom prst="roundRect">
            <a:avLst>
              <a:gd name="adj" fmla="val 4444"/>
            </a:avLst>
          </a:prstGeom>
          <a:solidFill>
            <a:srgbClr val="FFFFFF"/>
          </a:solidFill>
          <a:ln w="9525">
            <a:solidFill>
              <a:srgbClr val="DDE2EA"/>
            </a:solidFill>
            <a:prstDash val="solid"/>
          </a:ln>
        </p:spPr>
      </p:sp>
      <p:sp>
        <p:nvSpPr>
          <p:cNvPr id="6" name="Text 3"/>
          <p:cNvSpPr txBox="1"/>
          <p:nvPr/>
        </p:nvSpPr>
        <p:spPr>
          <a:xfrm>
            <a:off x="502920" y="1993392"/>
            <a:ext cx="1623060" cy="201168"/>
          </a:xfrm>
          <a:prstGeom prst="rect">
            <a:avLst/>
          </a:prstGeom>
          <a:noFill/>
          <a:ln/>
        </p:spPr>
        <p:txBody>
          <a:bodyPr wrap="square" lIns="0" tIns="0" rIns="0" bIns="0" rtlCol="0" anchor="t"/>
          <a:lstStyle/>
          <a:p>
            <a:pPr indent="0" marL="0">
              <a:buNone/>
            </a:pPr>
            <a:r>
              <a:rPr lang="en-US" sz="900" b="1" spc="100" kern="0" dirty="0">
                <a:solidFill>
                  <a:srgbClr val="6A7280"/>
                </a:solidFill>
                <a:latin typeface="Arial" pitchFamily="34" charset="0"/>
                <a:ea typeface="Arial" pitchFamily="34" charset="-122"/>
                <a:cs typeface="Arial" pitchFamily="34" charset="-120"/>
              </a:rPr>
              <a:t>1 · CONTEXT</a:t>
            </a:r>
            <a:endParaRPr lang="en-US" sz="900" dirty="0"/>
          </a:p>
        </p:txBody>
      </p:sp>
      <p:sp>
        <p:nvSpPr>
          <p:cNvPr id="7" name="Shape 4"/>
          <p:cNvSpPr/>
          <p:nvPr/>
        </p:nvSpPr>
        <p:spPr>
          <a:xfrm>
            <a:off x="502920" y="2258568"/>
            <a:ext cx="1623060" cy="768096"/>
          </a:xfrm>
          <a:prstGeom prst="roundRect">
            <a:avLst>
              <a:gd name="adj" fmla="val 5952"/>
            </a:avLst>
          </a:prstGeom>
          <a:solidFill>
            <a:srgbClr val="F3F5F8"/>
          </a:solidFill>
          <a:ln w="12700">
            <a:solidFill>
              <a:srgbClr val="F3F5F8"/>
            </a:solidFill>
            <a:prstDash val="solid"/>
          </a:ln>
        </p:spPr>
      </p:sp>
      <p:sp>
        <p:nvSpPr>
          <p:cNvPr id="8" name="Text 5"/>
          <p:cNvSpPr txBox="1"/>
          <p:nvPr/>
        </p:nvSpPr>
        <p:spPr>
          <a:xfrm>
            <a:off x="594360" y="2313432"/>
            <a:ext cx="1440180" cy="676656"/>
          </a:xfrm>
          <a:prstGeom prst="rect">
            <a:avLst/>
          </a:prstGeom>
          <a:noFill/>
          <a:ln/>
        </p:spPr>
        <p:txBody>
          <a:bodyPr wrap="square" lIns="0" tIns="0" rIns="0" bIns="0" rtlCol="0" anchor="t"/>
          <a:lstStyle/>
          <a:p>
            <a:pPr indent="0" marL="0">
              <a:buNone/>
            </a:pPr>
            <a:r>
              <a:rPr lang="en-US" sz="1200" dirty="0">
                <a:solidFill>
                  <a:srgbClr val="18232D"/>
                </a:solidFill>
                <a:latin typeface="Courier New" pitchFamily="34" charset="0"/>
                <a:ea typeface="Courier New" pitchFamily="34" charset="-122"/>
                <a:cs typeface="Courier New" pitchFamily="34" charset="-120"/>
              </a:rPr>
              <a:t>port = 8000</a:t>
            </a:r>
            <a:endParaRPr lang="en-US" sz="1200" dirty="0"/>
          </a:p>
          <a:p>
            <a:pPr indent="0" marL="0">
              <a:buNone/>
            </a:pPr>
            <a:r>
              <a:rPr lang="en-US" sz="1200" dirty="0">
                <a:solidFill>
                  <a:srgbClr val="6A7280"/>
                </a:solidFill>
                <a:latin typeface="Courier New" pitchFamily="34" charset="0"/>
                <a:ea typeface="Courier New" pitchFamily="34" charset="-122"/>
                <a:cs typeface="Courier New" pitchFamily="34" charset="-120"/>
              </a:rPr>
              <a:t>…2,000 tokens…</a:t>
            </a:r>
            <a:endParaRPr lang="en-US" sz="1200" dirty="0"/>
          </a:p>
          <a:p>
            <a:pPr indent="0" marL="0">
              <a:buNone/>
            </a:pPr>
            <a:r>
              <a:rPr lang="en-US" sz="1200" b="1" dirty="0">
                <a:solidFill>
                  <a:srgbClr val="7A1018"/>
                </a:solidFill>
                <a:latin typeface="Courier New" pitchFamily="34" charset="0"/>
                <a:ea typeface="Courier New" pitchFamily="34" charset="-122"/>
                <a:cs typeface="Courier New" pitchFamily="34" charset="-120"/>
              </a:rPr>
              <a:t>port = ?</a:t>
            </a:r>
            <a:endParaRPr lang="en-US" sz="1200" dirty="0"/>
          </a:p>
        </p:txBody>
      </p:sp>
      <p:sp>
        <p:nvSpPr>
          <p:cNvPr id="9" name="Shape 6"/>
          <p:cNvSpPr/>
          <p:nvPr/>
        </p:nvSpPr>
        <p:spPr>
          <a:xfrm rot="5400000">
            <a:off x="2327148" y="2615184"/>
            <a:ext cx="164592" cy="146304"/>
          </a:xfrm>
          <a:prstGeom prst="triangle">
            <a:avLst/>
          </a:prstGeom>
          <a:solidFill>
            <a:srgbClr val="9AA5B5"/>
          </a:solidFill>
          <a:ln w="12700">
            <a:solidFill>
              <a:srgbClr val="9AA5B5"/>
            </a:solidFill>
            <a:prstDash val="solid"/>
          </a:ln>
        </p:spPr>
      </p:sp>
      <p:sp>
        <p:nvSpPr>
          <p:cNvPr id="10" name="card 2"/>
          <p:cNvSpPr/>
          <p:nvPr/>
        </p:nvSpPr>
        <p:spPr>
          <a:xfrm>
            <a:off x="2537460" y="1874520"/>
            <a:ext cx="1897380" cy="1645920"/>
          </a:xfrm>
          <a:prstGeom prst="roundRect">
            <a:avLst>
              <a:gd name="adj" fmla="val 4444"/>
            </a:avLst>
          </a:prstGeom>
          <a:solidFill>
            <a:srgbClr val="F9EDEE"/>
          </a:solidFill>
          <a:ln w="12700">
            <a:solidFill>
              <a:srgbClr val="7A1018"/>
            </a:solidFill>
            <a:prstDash val="solid"/>
          </a:ln>
        </p:spPr>
      </p:sp>
      <p:sp>
        <p:nvSpPr>
          <p:cNvPr id="11" name="Text 8"/>
          <p:cNvSpPr txBox="1"/>
          <p:nvPr/>
        </p:nvSpPr>
        <p:spPr>
          <a:xfrm>
            <a:off x="2674620" y="1993392"/>
            <a:ext cx="1623060" cy="201168"/>
          </a:xfrm>
          <a:prstGeom prst="rect">
            <a:avLst/>
          </a:prstGeom>
          <a:noFill/>
          <a:ln/>
        </p:spPr>
        <p:txBody>
          <a:bodyPr wrap="square" lIns="0" tIns="0" rIns="0" bIns="0" rtlCol="0" anchor="t"/>
          <a:lstStyle/>
          <a:p>
            <a:pPr indent="0" marL="0">
              <a:buNone/>
            </a:pPr>
            <a:r>
              <a:rPr lang="en-US" sz="900" b="1" spc="100" kern="0" dirty="0">
                <a:solidFill>
                  <a:srgbClr val="7A1018"/>
                </a:solidFill>
                <a:latin typeface="Arial" pitchFamily="34" charset="0"/>
                <a:ea typeface="Arial" pitchFamily="34" charset="-122"/>
                <a:cs typeface="Arial" pitchFamily="34" charset="-120"/>
              </a:rPr>
              <a:t>2 · ICE: EXACT LOOKUP</a:t>
            </a:r>
            <a:endParaRPr lang="en-US" sz="900" dirty="0"/>
          </a:p>
        </p:txBody>
      </p:sp>
      <p:sp>
        <p:nvSpPr>
          <p:cNvPr id="12" name="Text 9"/>
          <p:cNvSpPr txBox="1"/>
          <p:nvPr/>
        </p:nvSpPr>
        <p:spPr>
          <a:xfrm>
            <a:off x="2674620" y="2258568"/>
            <a:ext cx="1623060" cy="566928"/>
          </a:xfrm>
          <a:prstGeom prst="rect">
            <a:avLst/>
          </a:prstGeom>
          <a:noFill/>
          <a:ln/>
        </p:spPr>
        <p:txBody>
          <a:bodyPr wrap="square" lIns="0" tIns="0" rIns="0" bIns="0" rtlCol="0" anchor="t"/>
          <a:lstStyle/>
          <a:p>
            <a:pPr indent="0" marL="0">
              <a:buNone/>
            </a:pPr>
            <a:r>
              <a:rPr lang="en-US" sz="1200" b="1" dirty="0">
                <a:solidFill>
                  <a:srgbClr val="18232D"/>
                </a:solidFill>
                <a:latin typeface="Arial" pitchFamily="34" charset="0"/>
                <a:ea typeface="Arial" pitchFamily="34" charset="-122"/>
                <a:cs typeface="Arial" pitchFamily="34" charset="-120"/>
              </a:rPr>
              <a:t>Where did this phrase appear before? What came next?</a:t>
            </a:r>
            <a:endParaRPr lang="en-US" sz="1200" dirty="0"/>
          </a:p>
        </p:txBody>
      </p:sp>
      <p:sp>
        <p:nvSpPr>
          <p:cNvPr id="13" name="Text 10"/>
          <p:cNvSpPr txBox="1"/>
          <p:nvPr/>
        </p:nvSpPr>
        <p:spPr>
          <a:xfrm>
            <a:off x="2674620" y="2862072"/>
            <a:ext cx="1623060" cy="585216"/>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Hash table on token IDs, on the CPU. Proposes up to 34 candidates.</a:t>
            </a:r>
            <a:endParaRPr lang="en-US" sz="1050" dirty="0"/>
          </a:p>
        </p:txBody>
      </p:sp>
      <p:sp>
        <p:nvSpPr>
          <p:cNvPr id="14" name="Shape 11"/>
          <p:cNvSpPr/>
          <p:nvPr/>
        </p:nvSpPr>
        <p:spPr>
          <a:xfrm rot="5400000">
            <a:off x="4498848" y="2615184"/>
            <a:ext cx="164592" cy="146304"/>
          </a:xfrm>
          <a:prstGeom prst="triangle">
            <a:avLst/>
          </a:prstGeom>
          <a:solidFill>
            <a:srgbClr val="9AA5B5"/>
          </a:solidFill>
          <a:ln w="12700">
            <a:solidFill>
              <a:srgbClr val="9AA5B5"/>
            </a:solidFill>
            <a:prstDash val="solid"/>
          </a:ln>
        </p:spPr>
      </p:sp>
      <p:sp>
        <p:nvSpPr>
          <p:cNvPr id="15" name="card 3"/>
          <p:cNvSpPr/>
          <p:nvPr/>
        </p:nvSpPr>
        <p:spPr>
          <a:xfrm>
            <a:off x="4709160" y="1874520"/>
            <a:ext cx="1897380" cy="1645920"/>
          </a:xfrm>
          <a:prstGeom prst="roundRect">
            <a:avLst>
              <a:gd name="adj" fmla="val 4444"/>
            </a:avLst>
          </a:prstGeom>
          <a:solidFill>
            <a:srgbClr val="F9EDEE"/>
          </a:solidFill>
          <a:ln w="12700">
            <a:solidFill>
              <a:srgbClr val="7A1018"/>
            </a:solidFill>
            <a:prstDash val="solid"/>
          </a:ln>
        </p:spPr>
      </p:sp>
      <p:sp>
        <p:nvSpPr>
          <p:cNvPr id="16" name="Text 13"/>
          <p:cNvSpPr txBox="1"/>
          <p:nvPr/>
        </p:nvSpPr>
        <p:spPr>
          <a:xfrm>
            <a:off x="4846320" y="1993392"/>
            <a:ext cx="1623060" cy="201168"/>
          </a:xfrm>
          <a:prstGeom prst="rect">
            <a:avLst/>
          </a:prstGeom>
          <a:noFill/>
          <a:ln/>
        </p:spPr>
        <p:txBody>
          <a:bodyPr wrap="square" lIns="0" tIns="0" rIns="0" bIns="0" rtlCol="0" anchor="t"/>
          <a:lstStyle/>
          <a:p>
            <a:pPr indent="0" marL="0">
              <a:buNone/>
            </a:pPr>
            <a:r>
              <a:rPr lang="en-US" sz="900" b="1" spc="100" kern="0" dirty="0">
                <a:solidFill>
                  <a:srgbClr val="7A1018"/>
                </a:solidFill>
                <a:latin typeface="Arial" pitchFamily="34" charset="0"/>
                <a:ea typeface="Arial" pitchFamily="34" charset="-122"/>
                <a:cs typeface="Arial" pitchFamily="34" charset="-120"/>
              </a:rPr>
              <a:t>3 · ICE: VERIFIER</a:t>
            </a:r>
            <a:endParaRPr lang="en-US" sz="900" dirty="0"/>
          </a:p>
        </p:txBody>
      </p:sp>
      <p:sp>
        <p:nvSpPr>
          <p:cNvPr id="17" name="Text 14"/>
          <p:cNvSpPr txBox="1"/>
          <p:nvPr/>
        </p:nvSpPr>
        <p:spPr>
          <a:xfrm>
            <a:off x="4846320" y="2258568"/>
            <a:ext cx="1623060" cy="566928"/>
          </a:xfrm>
          <a:prstGeom prst="rect">
            <a:avLst/>
          </a:prstGeom>
          <a:noFill/>
          <a:ln/>
        </p:spPr>
        <p:txBody>
          <a:bodyPr wrap="square" lIns="0" tIns="0" rIns="0" bIns="0" rtlCol="0" anchor="t"/>
          <a:lstStyle/>
          <a:p>
            <a:pPr indent="0" marL="0">
              <a:buNone/>
            </a:pPr>
            <a:r>
              <a:rPr lang="en-US" sz="1200" b="1" dirty="0">
                <a:solidFill>
                  <a:srgbClr val="18232D"/>
                </a:solidFill>
                <a:latin typeface="Arial" pitchFamily="34" charset="0"/>
                <a:ea typeface="Arial" pitchFamily="34" charset="-122"/>
                <a:cs typeface="Arial" pitchFamily="34" charset="-120"/>
              </a:rPr>
              <a:t>Weighs each candidate against the model's guess</a:t>
            </a:r>
            <a:endParaRPr lang="en-US" sz="1200" dirty="0"/>
          </a:p>
        </p:txBody>
      </p:sp>
      <p:sp>
        <p:nvSpPr>
          <p:cNvPr id="18" name="Text 15"/>
          <p:cNvSpPr txBox="1"/>
          <p:nvPr/>
        </p:nvSpPr>
        <p:spPr>
          <a:xfrm>
            <a:off x="4846320" y="2862072"/>
            <a:ext cx="1623060" cy="585216"/>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Learned, 2.9K parameters: an implausible candidate gets little weight.</a:t>
            </a:r>
            <a:endParaRPr lang="en-US" sz="1050" dirty="0"/>
          </a:p>
        </p:txBody>
      </p:sp>
      <p:sp>
        <p:nvSpPr>
          <p:cNvPr id="19" name="Shape 16"/>
          <p:cNvSpPr/>
          <p:nvPr/>
        </p:nvSpPr>
        <p:spPr>
          <a:xfrm rot="5400000">
            <a:off x="6670548" y="2615184"/>
            <a:ext cx="164592" cy="146304"/>
          </a:xfrm>
          <a:prstGeom prst="triangle">
            <a:avLst/>
          </a:prstGeom>
          <a:solidFill>
            <a:srgbClr val="9AA5B5"/>
          </a:solidFill>
          <a:ln w="12700">
            <a:solidFill>
              <a:srgbClr val="9AA5B5"/>
            </a:solidFill>
            <a:prstDash val="solid"/>
          </a:ln>
        </p:spPr>
      </p:sp>
      <p:sp>
        <p:nvSpPr>
          <p:cNvPr id="20" name="card 4"/>
          <p:cNvSpPr/>
          <p:nvPr/>
        </p:nvSpPr>
        <p:spPr>
          <a:xfrm>
            <a:off x="6880860" y="1874520"/>
            <a:ext cx="1897380" cy="1645920"/>
          </a:xfrm>
          <a:prstGeom prst="roundRect">
            <a:avLst>
              <a:gd name="adj" fmla="val 4444"/>
            </a:avLst>
          </a:prstGeom>
          <a:solidFill>
            <a:srgbClr val="FFFFFF"/>
          </a:solidFill>
          <a:ln w="9525">
            <a:solidFill>
              <a:srgbClr val="DDE2EA"/>
            </a:solidFill>
            <a:prstDash val="solid"/>
          </a:ln>
        </p:spPr>
      </p:sp>
      <p:sp>
        <p:nvSpPr>
          <p:cNvPr id="21" name="Text 18"/>
          <p:cNvSpPr txBox="1"/>
          <p:nvPr/>
        </p:nvSpPr>
        <p:spPr>
          <a:xfrm>
            <a:off x="7018020" y="1993392"/>
            <a:ext cx="1623060" cy="201168"/>
          </a:xfrm>
          <a:prstGeom prst="rect">
            <a:avLst/>
          </a:prstGeom>
          <a:noFill/>
          <a:ln/>
        </p:spPr>
        <p:txBody>
          <a:bodyPr wrap="square" lIns="0" tIns="0" rIns="0" bIns="0" rtlCol="0" anchor="t"/>
          <a:lstStyle/>
          <a:p>
            <a:pPr indent="0" marL="0">
              <a:buNone/>
            </a:pPr>
            <a:r>
              <a:rPr lang="en-US" sz="900" b="1" spc="100" kern="0" dirty="0">
                <a:solidFill>
                  <a:srgbClr val="6A7280"/>
                </a:solidFill>
                <a:latin typeface="Arial" pitchFamily="34" charset="0"/>
                <a:ea typeface="Arial" pitchFamily="34" charset="-122"/>
                <a:cs typeface="Arial" pitchFamily="34" charset="-120"/>
              </a:rPr>
              <a:t>4 · NEXT TOKEN</a:t>
            </a:r>
            <a:endParaRPr lang="en-US" sz="900" dirty="0"/>
          </a:p>
        </p:txBody>
      </p:sp>
      <p:sp>
        <p:nvSpPr>
          <p:cNvPr id="22" name="Shape 19"/>
          <p:cNvSpPr/>
          <p:nvPr/>
        </p:nvSpPr>
        <p:spPr>
          <a:xfrm>
            <a:off x="7018020" y="2258568"/>
            <a:ext cx="1623060" cy="329184"/>
          </a:xfrm>
          <a:prstGeom prst="roundRect">
            <a:avLst>
              <a:gd name="adj" fmla="val 13889"/>
            </a:avLst>
          </a:prstGeom>
          <a:solidFill>
            <a:srgbClr val="F3F5F8"/>
          </a:solidFill>
          <a:ln w="12700">
            <a:solidFill>
              <a:srgbClr val="F3F5F8"/>
            </a:solidFill>
            <a:prstDash val="solid"/>
          </a:ln>
        </p:spPr>
      </p:sp>
      <p:sp>
        <p:nvSpPr>
          <p:cNvPr id="23" name="Text 20"/>
          <p:cNvSpPr txBox="1"/>
          <p:nvPr/>
        </p:nvSpPr>
        <p:spPr>
          <a:xfrm>
            <a:off x="7109460" y="2313432"/>
            <a:ext cx="1440180" cy="237744"/>
          </a:xfrm>
          <a:prstGeom prst="rect">
            <a:avLst/>
          </a:prstGeom>
          <a:noFill/>
          <a:ln/>
        </p:spPr>
        <p:txBody>
          <a:bodyPr wrap="square" lIns="0" tIns="0" rIns="0" bIns="0" rtlCol="0" anchor="t"/>
          <a:lstStyle/>
          <a:p>
            <a:pPr indent="0" marL="0">
              <a:buNone/>
            </a:pPr>
            <a:r>
              <a:rPr lang="en-US" sz="1200" b="1" dirty="0">
                <a:solidFill>
                  <a:srgbClr val="7A1018"/>
                </a:solidFill>
                <a:latin typeface="Courier New" pitchFamily="34" charset="0"/>
                <a:ea typeface="Courier New" pitchFamily="34" charset="-122"/>
                <a:cs typeface="Courier New" pitchFamily="34" charset="-120"/>
              </a:rPr>
              <a:t>8000</a:t>
            </a:r>
            <a:endParaRPr lang="en-US" sz="1200" dirty="0"/>
          </a:p>
        </p:txBody>
      </p:sp>
      <p:sp>
        <p:nvSpPr>
          <p:cNvPr id="24" name="Text 21"/>
          <p:cNvSpPr txBox="1"/>
          <p:nvPr/>
        </p:nvSpPr>
        <p:spPr>
          <a:xfrm>
            <a:off x="7018020" y="2697480"/>
            <a:ext cx="1623060" cy="749808"/>
          </a:xfrm>
          <a:prstGeom prst="rect">
            <a:avLst/>
          </a:prstGeom>
          <a:noFill/>
          <a:ln/>
        </p:spPr>
        <p:txBody>
          <a:bodyPr wrap="square" lIns="0" tIns="0" rIns="0" bIns="0" rtlCol="0" anchor="t"/>
          <a:lstStyle/>
          <a:p>
            <a:pPr indent="0" marL="0">
              <a:buNone/>
            </a:pPr>
            <a:r>
              <a:rPr lang="en-US" sz="1050" dirty="0">
                <a:solidFill>
                  <a:srgbClr val="4A5568"/>
                </a:solidFill>
                <a:latin typeface="Arial" pitchFamily="34" charset="0"/>
                <a:ea typeface="Arial" pitchFamily="34" charset="-122"/>
                <a:cs typeface="Arial" pitchFamily="34" charset="-120"/>
              </a:rPr>
              <a:t>No full attention layer anywhere in the model.</a:t>
            </a:r>
            <a:endParaRPr lang="en-US" sz="1050" dirty="0"/>
          </a:p>
        </p:txBody>
      </p:sp>
      <p:sp>
        <p:nvSpPr>
          <p:cNvPr id="25" name="Text 22"/>
          <p:cNvSpPr txBox="1"/>
          <p:nvPr/>
        </p:nvSpPr>
        <p:spPr>
          <a:xfrm>
            <a:off x="365760" y="3639312"/>
            <a:ext cx="5577840" cy="182880"/>
          </a:xfrm>
          <a:prstGeom prst="rect">
            <a:avLst/>
          </a:prstGeom>
          <a:noFill/>
          <a:ln/>
        </p:spPr>
        <p:txBody>
          <a:bodyPr wrap="square" lIns="0" tIns="0" rIns="0" bIns="0" rtlCol="0" anchor="t"/>
          <a:lstStyle/>
          <a:p>
            <a:pPr indent="0" marL="0">
              <a:buNone/>
            </a:pPr>
            <a:r>
              <a:rPr lang="en-US" sz="850" b="1" spc="100" kern="0" dirty="0">
                <a:solidFill>
                  <a:srgbClr val="6A7280"/>
                </a:solidFill>
                <a:latin typeface="Arial" pitchFamily="34" charset="0"/>
                <a:ea typeface="Arial" pitchFamily="34" charset="-122"/>
                <a:cs typeface="Arial" pitchFamily="34" charset="-120"/>
              </a:rPr>
              <a:t>WHY IT SHOULD WORK: WHAT PRIOR WORK FOUND</a:t>
            </a:r>
            <a:endParaRPr lang="en-US" sz="850" dirty="0"/>
          </a:p>
        </p:txBody>
      </p:sp>
      <p:sp>
        <p:nvSpPr>
          <p:cNvPr id="26" name="finding 1"/>
          <p:cNvSpPr/>
          <p:nvPr/>
        </p:nvSpPr>
        <p:spPr>
          <a:xfrm>
            <a:off x="365760" y="3840480"/>
            <a:ext cx="2743200" cy="841248"/>
          </a:xfrm>
          <a:prstGeom prst="roundRect">
            <a:avLst>
              <a:gd name="adj" fmla="val 6522"/>
            </a:avLst>
          </a:prstGeom>
          <a:solidFill>
            <a:srgbClr val="FFFFFF"/>
          </a:solidFill>
          <a:ln w="9525">
            <a:solidFill>
              <a:srgbClr val="DDE2EA"/>
            </a:solidFill>
            <a:prstDash val="solid"/>
          </a:ln>
        </p:spPr>
      </p:sp>
      <p:sp>
        <p:nvSpPr>
          <p:cNvPr id="27" name="Text 24"/>
          <p:cNvSpPr txBox="1"/>
          <p:nvPr/>
        </p:nvSpPr>
        <p:spPr>
          <a:xfrm>
            <a:off x="502920" y="3913632"/>
            <a:ext cx="2468880" cy="164592"/>
          </a:xfrm>
          <a:prstGeom prst="rect">
            <a:avLst/>
          </a:prstGeom>
          <a:noFill/>
          <a:ln/>
        </p:spPr>
        <p:txBody>
          <a:bodyPr wrap="square" lIns="0" tIns="0" rIns="0" bIns="0" rtlCol="0" anchor="t"/>
          <a:lstStyle/>
          <a:p>
            <a:pPr indent="0" marL="0">
              <a:buNone/>
            </a:pPr>
            <a:r>
              <a:rPr lang="en-US" sz="800" b="1" spc="100" kern="0" dirty="0">
                <a:solidFill>
                  <a:srgbClr val="7A1018"/>
                </a:solidFill>
                <a:latin typeface="Arial" pitchFamily="34" charset="0"/>
                <a:ea typeface="Arial" pitchFamily="34" charset="-122"/>
                <a:cs typeface="Arial" pitchFamily="34" charset="-120"/>
              </a:rPr>
              <a:t>ARORA ET AL., 2023 (ZOOLOGY)</a:t>
            </a:r>
            <a:endParaRPr lang="en-US" sz="800" dirty="0"/>
          </a:p>
        </p:txBody>
      </p:sp>
      <p:sp>
        <p:nvSpPr>
          <p:cNvPr id="28" name="Text 25"/>
          <p:cNvSpPr txBox="1"/>
          <p:nvPr/>
        </p:nvSpPr>
        <p:spPr>
          <a:xfrm>
            <a:off x="502920" y="4087368"/>
            <a:ext cx="2514600" cy="329184"/>
          </a:xfrm>
          <a:prstGeom prst="rect">
            <a:avLst/>
          </a:prstGeom>
          <a:noFill/>
          <a:ln/>
        </p:spPr>
        <p:txBody>
          <a:bodyPr wrap="square" lIns="0" tIns="0" rIns="0" bIns="0" rtlCol="0" anchor="t"/>
          <a:lstStyle/>
          <a:p>
            <a:pPr indent="0" marL="0">
              <a:buNone/>
            </a:pPr>
            <a:r>
              <a:rPr lang="en-US" sz="1050" b="1" dirty="0">
                <a:solidFill>
                  <a:srgbClr val="18232D"/>
                </a:solidFill>
                <a:latin typeface="Arial" pitchFamily="34" charset="0"/>
                <a:ea typeface="Arial" pitchFamily="34" charset="-122"/>
                <a:cs typeface="Arial" pitchFamily="34" charset="-120"/>
              </a:rPr>
              <a:t>82% of the quality gap to full attention is recall</a:t>
            </a:r>
            <a:endParaRPr lang="en-US" sz="1050" dirty="0"/>
          </a:p>
        </p:txBody>
      </p:sp>
      <p:sp>
        <p:nvSpPr>
          <p:cNvPr id="29" name="Text 26"/>
          <p:cNvSpPr txBox="1"/>
          <p:nvPr/>
        </p:nvSpPr>
        <p:spPr>
          <a:xfrm>
            <a:off x="502920" y="4389120"/>
            <a:ext cx="2514600" cy="274320"/>
          </a:xfrm>
          <a:prstGeom prst="rect">
            <a:avLst/>
          </a:prstGeom>
          <a:noFill/>
          <a:ln/>
        </p:spPr>
        <p:txBody>
          <a:bodyPr wrap="square" lIns="0" tIns="0" rIns="0" bIns="0" rtlCol="0" anchor="t"/>
          <a:lstStyle/>
          <a:p>
            <a:pPr indent="0" marL="0">
              <a:buNone/>
            </a:pPr>
            <a:r>
              <a:rPr lang="en-US" sz="850" dirty="0">
                <a:solidFill>
                  <a:srgbClr val="4A5568"/>
                </a:solidFill>
                <a:latin typeface="Arial" pitchFamily="34" charset="0"/>
                <a:ea typeface="Arial" pitchFamily="34" charset="-122"/>
                <a:cs typeface="Arial" pitchFamily="34" charset="-120"/>
              </a:rPr>
              <a:t>Recalling tokens seen earlier in the context, measured on the Pile.</a:t>
            </a:r>
            <a:endParaRPr lang="en-US" sz="850" dirty="0"/>
          </a:p>
        </p:txBody>
      </p:sp>
      <p:sp>
        <p:nvSpPr>
          <p:cNvPr id="30" name="finding 2"/>
          <p:cNvSpPr/>
          <p:nvPr/>
        </p:nvSpPr>
        <p:spPr>
          <a:xfrm>
            <a:off x="3200400" y="3840480"/>
            <a:ext cx="2743200" cy="841248"/>
          </a:xfrm>
          <a:prstGeom prst="roundRect">
            <a:avLst>
              <a:gd name="adj" fmla="val 6522"/>
            </a:avLst>
          </a:prstGeom>
          <a:solidFill>
            <a:srgbClr val="FFFFFF"/>
          </a:solidFill>
          <a:ln w="9525">
            <a:solidFill>
              <a:srgbClr val="DDE2EA"/>
            </a:solidFill>
            <a:prstDash val="solid"/>
          </a:ln>
        </p:spPr>
      </p:sp>
      <p:sp>
        <p:nvSpPr>
          <p:cNvPr id="31" name="Text 28"/>
          <p:cNvSpPr txBox="1"/>
          <p:nvPr/>
        </p:nvSpPr>
        <p:spPr>
          <a:xfrm>
            <a:off x="3337560" y="3913632"/>
            <a:ext cx="2468880" cy="164592"/>
          </a:xfrm>
          <a:prstGeom prst="rect">
            <a:avLst/>
          </a:prstGeom>
          <a:noFill/>
          <a:ln/>
        </p:spPr>
        <p:txBody>
          <a:bodyPr wrap="square" lIns="0" tIns="0" rIns="0" bIns="0" rtlCol="0" anchor="t"/>
          <a:lstStyle/>
          <a:p>
            <a:pPr indent="0" marL="0">
              <a:buNone/>
            </a:pPr>
            <a:r>
              <a:rPr lang="en-US" sz="800" b="1" spc="100" kern="0" dirty="0">
                <a:solidFill>
                  <a:srgbClr val="7A1018"/>
                </a:solidFill>
                <a:latin typeface="Arial" pitchFamily="34" charset="0"/>
                <a:ea typeface="Arial" pitchFamily="34" charset="-122"/>
                <a:cs typeface="Arial" pitchFamily="34" charset="-120"/>
              </a:rPr>
              <a:t>JELASSI ET AL., 2024</a:t>
            </a:r>
            <a:endParaRPr lang="en-US" sz="800" dirty="0"/>
          </a:p>
        </p:txBody>
      </p:sp>
      <p:sp>
        <p:nvSpPr>
          <p:cNvPr id="32" name="Text 29"/>
          <p:cNvSpPr txBox="1"/>
          <p:nvPr/>
        </p:nvSpPr>
        <p:spPr>
          <a:xfrm>
            <a:off x="3337560" y="4087368"/>
            <a:ext cx="2514600" cy="329184"/>
          </a:xfrm>
          <a:prstGeom prst="rect">
            <a:avLst/>
          </a:prstGeom>
          <a:noFill/>
          <a:ln/>
        </p:spPr>
        <p:txBody>
          <a:bodyPr wrap="square" lIns="0" tIns="0" rIns="0" bIns="0" rtlCol="0" anchor="t"/>
          <a:lstStyle/>
          <a:p>
            <a:pPr indent="0" marL="0">
              <a:buNone/>
            </a:pPr>
            <a:r>
              <a:rPr lang="en-US" sz="1050" b="1" dirty="0">
                <a:solidFill>
                  <a:srgbClr val="18232D"/>
                </a:solidFill>
                <a:latin typeface="Arial" pitchFamily="34" charset="0"/>
                <a:ea typeface="Arial" pitchFamily="34" charset="-122"/>
                <a:cs typeface="Arial" pitchFamily="34" charset="-120"/>
              </a:rPr>
              <a:t>Fixed-size-state models cannot copy long strings</a:t>
            </a:r>
            <a:endParaRPr lang="en-US" sz="1050" dirty="0"/>
          </a:p>
        </p:txBody>
      </p:sp>
      <p:sp>
        <p:nvSpPr>
          <p:cNvPr id="33" name="Text 30"/>
          <p:cNvSpPr txBox="1"/>
          <p:nvPr/>
        </p:nvSpPr>
        <p:spPr>
          <a:xfrm>
            <a:off x="3337560" y="4389120"/>
            <a:ext cx="2514600" cy="274320"/>
          </a:xfrm>
          <a:prstGeom prst="rect">
            <a:avLst/>
          </a:prstGeom>
          <a:noFill/>
          <a:ln/>
        </p:spPr>
        <p:txBody>
          <a:bodyPr wrap="square" lIns="0" tIns="0" rIns="0" bIns="0" rtlCol="0" anchor="t"/>
          <a:lstStyle/>
          <a:p>
            <a:pPr indent="0" marL="0">
              <a:buNone/>
            </a:pPr>
            <a:r>
              <a:rPr lang="en-US" sz="850" dirty="0">
                <a:solidFill>
                  <a:srgbClr val="4A5568"/>
                </a:solidFill>
                <a:latin typeface="Arial" pitchFamily="34" charset="0"/>
                <a:ea typeface="Arial" pitchFamily="34" charset="-122"/>
                <a:cs typeface="Arial" pitchFamily="34" charset="-120"/>
              </a:rPr>
              <a:t>Transformers copy easily; state-space models fail (“Repeat After Me”).</a:t>
            </a:r>
            <a:endParaRPr lang="en-US" sz="850" dirty="0"/>
          </a:p>
        </p:txBody>
      </p:sp>
      <p:sp>
        <p:nvSpPr>
          <p:cNvPr id="34" name="expectation"/>
          <p:cNvSpPr/>
          <p:nvPr/>
        </p:nvSpPr>
        <p:spPr>
          <a:xfrm>
            <a:off x="6035040" y="3840480"/>
            <a:ext cx="2743200" cy="841248"/>
          </a:xfrm>
          <a:prstGeom prst="roundRect">
            <a:avLst>
              <a:gd name="adj" fmla="val 6522"/>
            </a:avLst>
          </a:prstGeom>
          <a:solidFill>
            <a:srgbClr val="731114"/>
          </a:solidFill>
          <a:ln w="9525">
            <a:solidFill>
              <a:srgbClr val="731114"/>
            </a:solidFill>
            <a:prstDash val="solid"/>
          </a:ln>
        </p:spPr>
      </p:sp>
      <p:sp>
        <p:nvSpPr>
          <p:cNvPr id="35" name="Text 32"/>
          <p:cNvSpPr txBox="1"/>
          <p:nvPr/>
        </p:nvSpPr>
        <p:spPr>
          <a:xfrm>
            <a:off x="6172200" y="3913632"/>
            <a:ext cx="2468880" cy="164592"/>
          </a:xfrm>
          <a:prstGeom prst="rect">
            <a:avLst/>
          </a:prstGeom>
          <a:noFill/>
          <a:ln/>
        </p:spPr>
        <p:txBody>
          <a:bodyPr wrap="square" lIns="0" tIns="0" rIns="0" bIns="0" rtlCol="0" anchor="t"/>
          <a:lstStyle/>
          <a:p>
            <a:pPr indent="0" marL="0">
              <a:buNone/>
            </a:pPr>
            <a:r>
              <a:rPr lang="en-US" sz="800" b="1" spc="100" kern="0" dirty="0">
                <a:solidFill>
                  <a:srgbClr val="F2D7D9"/>
                </a:solidFill>
                <a:latin typeface="Arial" pitchFamily="34" charset="0"/>
                <a:ea typeface="Arial" pitchFamily="34" charset="-122"/>
                <a:cs typeface="Arial" pitchFamily="34" charset="-120"/>
              </a:rPr>
              <a:t>OUR EXPECTATION</a:t>
            </a:r>
            <a:endParaRPr lang="en-US" sz="800" dirty="0"/>
          </a:p>
        </p:txBody>
      </p:sp>
      <p:sp>
        <p:nvSpPr>
          <p:cNvPr id="36" name="Text 33"/>
          <p:cNvSpPr txBox="1"/>
          <p:nvPr/>
        </p:nvSpPr>
        <p:spPr>
          <a:xfrm>
            <a:off x="6172200" y="4087368"/>
            <a:ext cx="2514600" cy="329184"/>
          </a:xfrm>
          <a:prstGeom prst="rect">
            <a:avLst/>
          </a:prstGeom>
          <a:noFill/>
          <a:ln/>
        </p:spPr>
        <p:txBody>
          <a:bodyPr wrap="square" lIns="0" tIns="0" rIns="0" bIns="0" rtlCol="0" anchor="t"/>
          <a:lstStyle/>
          <a:p>
            <a:pPr indent="0" marL="0">
              <a:buNone/>
            </a:pPr>
            <a:r>
              <a:rPr lang="en-US" sz="1050" b="1" dirty="0">
                <a:solidFill>
                  <a:srgbClr val="FFFFFF"/>
                </a:solidFill>
                <a:latin typeface="Arial" pitchFamily="34" charset="0"/>
                <a:ea typeface="Arial" pitchFamily="34" charset="-122"/>
                <a:cs typeface="Arial" pitchFamily="34" charset="-120"/>
              </a:rPr>
              <a:t>Fewer full attention layers, same quality</a:t>
            </a:r>
            <a:endParaRPr lang="en-US" sz="1050" dirty="0"/>
          </a:p>
        </p:txBody>
      </p:sp>
      <p:sp>
        <p:nvSpPr>
          <p:cNvPr id="37" name="Text 34"/>
          <p:cNvSpPr txBox="1"/>
          <p:nvPr/>
        </p:nvSpPr>
        <p:spPr>
          <a:xfrm>
            <a:off x="6172200" y="4389120"/>
            <a:ext cx="2514600" cy="274320"/>
          </a:xfrm>
          <a:prstGeom prst="rect">
            <a:avLst/>
          </a:prstGeom>
          <a:noFill/>
          <a:ln/>
        </p:spPr>
        <p:txBody>
          <a:bodyPr wrap="square" lIns="0" tIns="0" rIns="0" bIns="0" rtlCol="0" anchor="t"/>
          <a:lstStyle/>
          <a:p>
            <a:pPr indent="0" marL="0">
              <a:buNone/>
            </a:pPr>
            <a:r>
              <a:rPr lang="en-US" sz="850" dirty="0">
                <a:solidFill>
                  <a:srgbClr val="F2D7D9"/>
                </a:solidFill>
                <a:latin typeface="Arial" pitchFamily="34" charset="0"/>
                <a:ea typeface="Arial" pitchFamily="34" charset="-122"/>
                <a:cs typeface="Arial" pitchFamily="34" charset="-120"/>
              </a:rPr>
              <a:t>Hybrids use 3:1 or 7:1 linear : full attention. With the lookup doing recall, go sparser and keep quality.</a:t>
            </a:r>
            <a:endParaRPr lang="en-US" sz="850" dirty="0"/>
          </a:p>
        </p:txBody>
      </p:sp>
      <p:sp>
        <p:nvSpPr>
          <p:cNvPr id="38"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A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txBox="1"/>
          <p:nvPr/>
        </p:nvSpPr>
        <p:spPr>
          <a:xfrm>
            <a:off x="365760" y="676656"/>
            <a:ext cx="8412480" cy="438912"/>
          </a:xfrm>
          <a:prstGeom prst="rect">
            <a:avLst/>
          </a:prstGeom>
          <a:noFill/>
          <a:ln/>
        </p:spPr>
        <p:txBody>
          <a:bodyPr wrap="square" lIns="0" tIns="0" rIns="0" bIns="0" rtlCol="0" anchor="t"/>
          <a:lstStyle/>
          <a:p>
            <a:pPr indent="0" marL="0">
              <a:buNone/>
            </a:pPr>
            <a:r>
              <a:rPr lang="en-US" sz="2400" b="1" dirty="0">
                <a:solidFill>
                  <a:srgbClr val="731114"/>
                </a:solidFill>
                <a:latin typeface="Lexend" pitchFamily="34" charset="0"/>
                <a:ea typeface="Lexend" pitchFamily="34" charset="-122"/>
                <a:cs typeface="Lexend" pitchFamily="34" charset="-120"/>
              </a:rPr>
              <a:t>Without full attention, ICE beats the hybrid</a:t>
            </a:r>
            <a:endParaRPr lang="en-US" sz="2400" dirty="0"/>
          </a:p>
        </p:txBody>
      </p:sp>
      <p:sp>
        <p:nvSpPr>
          <p:cNvPr id="4" name="Text 1"/>
          <p:cNvSpPr txBox="1"/>
          <p:nvPr/>
        </p:nvSpPr>
        <p:spPr>
          <a:xfrm>
            <a:off x="365760" y="1115568"/>
            <a:ext cx="8412480" cy="237744"/>
          </a:xfrm>
          <a:prstGeom prst="rect">
            <a:avLst/>
          </a:prstGeom>
          <a:noFill/>
          <a:ln/>
        </p:spPr>
        <p:txBody>
          <a:bodyPr wrap="square" lIns="0" tIns="0" rIns="0" bIns="0" rtlCol="0" anchor="t"/>
          <a:lstStyle/>
          <a:p>
            <a:pPr indent="0" marL="0">
              <a:buNone/>
            </a:pPr>
            <a:r>
              <a:rPr lang="en-US" sz="1150" b="1" dirty="0">
                <a:solidFill>
                  <a:srgbClr val="7A1018"/>
                </a:solidFill>
                <a:latin typeface="Arial" pitchFamily="34" charset="0"/>
                <a:ea typeface="Arial" pitchFamily="34" charset="-122"/>
                <a:cs typeface="Arial" pitchFamily="34" charset="-120"/>
              </a:rPr>
              <a:t>✓ Beyond expectation: </a:t>
            </a:r>
            <a:pPr indent="0" marL="0">
              <a:buNone/>
            </a:pPr>
            <a:r>
              <a:rPr lang="en-US" sz="1150" dirty="0">
                <a:solidFill>
                  <a:srgbClr val="18232D"/>
                </a:solidFill>
                <a:latin typeface="Arial" pitchFamily="34" charset="0"/>
                <a:ea typeface="Arial" pitchFamily="34" charset="-122"/>
                <a:cs typeface="Arial" pitchFamily="34" charset="-120"/>
              </a:rPr>
              <a:t>no full attention layers, yet better than the 7:1 hybrid.</a:t>
            </a:r>
            <a:endParaRPr lang="en-US" sz="1150" dirty="0"/>
          </a:p>
        </p:txBody>
      </p:sp>
      <p:graphicFrame>
        <p:nvGraphicFramePr>
          <p:cNvPr id="5" name="results table"/>
          <p:cNvGraphicFramePr>
            <a:graphicFrameLocks noGrp="1"/>
          </p:cNvGraphicFramePr>
          <p:nvPr>
            <p:extLst>
              <p:ext uri="{D42A27DB-BD31-4B8C-83A1-F6EECF244321}">
                <p14:modId xmlns:p14="http://schemas.microsoft.com/office/powerpoint/2010/main" val="1579011935"/>
              </p:ext>
            </p:extLst>
          </p:nvPr>
        </p:nvGraphicFramePr>
        <p:xfrm>
          <a:off x="365760" y="1426464"/>
          <a:ext cx="8412480" cy="914400"/>
        </p:xfrm>
        <a:graphic>
          <a:graphicData uri="http://schemas.openxmlformats.org/drawingml/2006/table">
            <a:tbl>
              <a:tblPr/>
              <a:tblGrid>
                <a:gridCol w="2377440"/>
                <a:gridCol w="1188720"/>
                <a:gridCol w="1188720"/>
                <a:gridCol w="1188720"/>
                <a:gridCol w="1280160"/>
                <a:gridCol w="1188720"/>
              </a:tblGrid>
              <a:tr h="420624">
                <a:tc>
                  <a:txBody>
                    <a:bodyPr/>
                    <a:lstStyle/>
                    <a:p>
                      <a:pPr indent="0" marL="0">
                        <a:buNone/>
                      </a:pPr>
                      <a:r>
                        <a:rPr lang="en-US" sz="900" b="1" dirty="0">
                          <a:solidFill>
                            <a:srgbClr val="633627"/>
                          </a:solidFill>
                          <a:latin typeface="Arial" pitchFamily="34" charset="0"/>
                          <a:ea typeface="Arial" pitchFamily="34" charset="-122"/>
                          <a:cs typeface="Arial" pitchFamily="34" charset="-120"/>
                        </a:rPr>
                        <a:t>Model</a:t>
                      </a:r>
                      <a:endParaRPr lang="en-US" sz="9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2D7D9"/>
                    </a:solidFill>
                  </a:tcPr>
                </a:tc>
                <a:tc>
                  <a:txBody>
                    <a:bodyPr/>
                    <a:lstStyle/>
                    <a:p>
                      <a:pPr algn="ctr" indent="0" marL="0">
                        <a:buNone/>
                      </a:pPr>
                      <a:r>
                        <a:rPr lang="en-US" sz="900" b="1" dirty="0">
                          <a:solidFill>
                            <a:srgbClr val="633627"/>
                          </a:solidFill>
                          <a:latin typeface="Arial" pitchFamily="34" charset="0"/>
                          <a:ea typeface="Arial" pitchFamily="34" charset="-122"/>
                          <a:cs typeface="Arial" pitchFamily="34" charset="-120"/>
                        </a:rPr>
                        <a:t>Cache ↓</a:t>
                      </a:r>
                      <a:endParaRPr lang="en-US" sz="900" dirty="0">
                        <a:latin typeface="Arial" charset="0"/>
                        <a:ea typeface="Arial" charset="0"/>
                        <a:cs typeface="Arial" charset="0"/>
                      </a:endParaRPr>
                    </a:p>
                    <a:p>
                      <a:pPr algn="ctr" indent="0" marL="0">
                        <a:buNone/>
                      </a:pPr>
                      <a:r>
                        <a:rPr lang="en-US" sz="750" dirty="0">
                          <a:solidFill>
                            <a:srgbClr val="6A7280"/>
                          </a:solidFill>
                          <a:latin typeface="Arial" pitchFamily="34" charset="0"/>
                          <a:ea typeface="Arial" pitchFamily="34" charset="-122"/>
                          <a:cs typeface="Arial" pitchFamily="34" charset="-120"/>
                        </a:rPr>
                        <a:t>bytes per token</a:t>
                      </a:r>
                      <a:endParaRPr lang="en-US" sz="9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2D7D9"/>
                    </a:solidFill>
                  </a:tcPr>
                </a:tc>
                <a:tc>
                  <a:txBody>
                    <a:bodyPr/>
                    <a:lstStyle/>
                    <a:p>
                      <a:pPr algn="ctr" indent="0" marL="0">
                        <a:buNone/>
                      </a:pPr>
                      <a:r>
                        <a:rPr lang="en-US" sz="900" b="1" dirty="0">
                          <a:solidFill>
                            <a:srgbClr val="633627"/>
                          </a:solidFill>
                          <a:latin typeface="Arial" pitchFamily="34" charset="0"/>
                          <a:ea typeface="Arial" pitchFamily="34" charset="-122"/>
                          <a:cs typeface="Arial" pitchFamily="34" charset="-120"/>
                        </a:rPr>
                        <a:t>Perplexity ↓</a:t>
                      </a:r>
                      <a:endParaRPr lang="en-US" sz="900" dirty="0">
                        <a:latin typeface="Arial" charset="0"/>
                        <a:ea typeface="Arial" charset="0"/>
                        <a:cs typeface="Arial" charset="0"/>
                      </a:endParaRPr>
                    </a:p>
                    <a:p>
                      <a:pPr algn="ctr" indent="0" marL="0">
                        <a:buNone/>
                      </a:pPr>
                      <a:r>
                        <a:rPr lang="en-US" sz="750" dirty="0">
                          <a:solidFill>
                            <a:srgbClr val="6A7280"/>
                          </a:solidFill>
                          <a:latin typeface="Arial" pitchFamily="34" charset="0"/>
                          <a:ea typeface="Arial" pitchFamily="34" charset="-122"/>
                          <a:cs typeface="Arial" pitchFamily="34" charset="-120"/>
                        </a:rPr>
                        <a:t>CodeParrot Python</a:t>
                      </a:r>
                      <a:endParaRPr lang="en-US" sz="9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2D7D9"/>
                    </a:solidFill>
                  </a:tcPr>
                </a:tc>
                <a:tc>
                  <a:txBody>
                    <a:bodyPr/>
                    <a:lstStyle/>
                    <a:p>
                      <a:pPr algn="ctr" indent="0" marL="0">
                        <a:buNone/>
                      </a:pPr>
                      <a:r>
                        <a:rPr lang="en-US" sz="900" b="1" dirty="0">
                          <a:solidFill>
                            <a:srgbClr val="633627"/>
                          </a:solidFill>
                          <a:latin typeface="Arial" pitchFamily="34" charset="0"/>
                          <a:ea typeface="Arial" pitchFamily="34" charset="-122"/>
                          <a:cs typeface="Arial" pitchFamily="34" charset="-120"/>
                        </a:rPr>
                        <a:t>Perplexity ↓</a:t>
                      </a:r>
                      <a:endParaRPr lang="en-US" sz="900" dirty="0">
                        <a:latin typeface="Arial" charset="0"/>
                        <a:ea typeface="Arial" charset="0"/>
                        <a:cs typeface="Arial" charset="0"/>
                      </a:endParaRPr>
                    </a:p>
                    <a:p>
                      <a:pPr algn="ctr" indent="0" marL="0">
                        <a:buNone/>
                      </a:pPr>
                      <a:r>
                        <a:rPr lang="en-US" sz="750" dirty="0">
                          <a:solidFill>
                            <a:srgbClr val="6A7280"/>
                          </a:solidFill>
                          <a:latin typeface="Arial" pitchFamily="34" charset="0"/>
                          <a:ea typeface="Arial" pitchFamily="34" charset="-122"/>
                          <a:cs typeface="Arial" pitchFamily="34" charset="-120"/>
                        </a:rPr>
                        <a:t>FineWeb-Edu text</a:t>
                      </a:r>
                      <a:endParaRPr lang="en-US" sz="9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2D7D9"/>
                    </a:solidFill>
                  </a:tcPr>
                </a:tc>
                <a:tc>
                  <a:txBody>
                    <a:bodyPr/>
                    <a:lstStyle/>
                    <a:p>
                      <a:pPr algn="ctr" indent="0" marL="0">
                        <a:buNone/>
                      </a:pPr>
                      <a:r>
                        <a:rPr lang="en-US" sz="900" b="1" dirty="0">
                          <a:solidFill>
                            <a:srgbClr val="633627"/>
                          </a:solidFill>
                          <a:latin typeface="Arial" pitchFamily="34" charset="0"/>
                          <a:ea typeface="Arial" pitchFamily="34" charset="-122"/>
                          <a:cs typeface="Arial" pitchFamily="34" charset="-120"/>
                        </a:rPr>
                        <a:t>Needle ↑</a:t>
                      </a:r>
                      <a:endParaRPr lang="en-US" sz="900" dirty="0">
                        <a:latin typeface="Arial" charset="0"/>
                        <a:ea typeface="Arial" charset="0"/>
                        <a:cs typeface="Arial" charset="0"/>
                      </a:endParaRPr>
                    </a:p>
                    <a:p>
                      <a:pPr algn="ctr" indent="0" marL="0">
                        <a:buNone/>
                      </a:pPr>
                      <a:r>
                        <a:rPr lang="en-US" sz="750" dirty="0">
                          <a:solidFill>
                            <a:srgbClr val="6A7280"/>
                          </a:solidFill>
                          <a:latin typeface="Arial" pitchFamily="34" charset="0"/>
                          <a:ea typeface="Arial" pitchFamily="34" charset="-122"/>
                          <a:cs typeface="Arial" pitchFamily="34" charset="-120"/>
                        </a:rPr>
                        <a:t>exact match, 4K</a:t>
                      </a:r>
                      <a:endParaRPr lang="en-US" sz="9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2D7D9"/>
                    </a:solidFill>
                  </a:tcPr>
                </a:tc>
                <a:tc>
                  <a:txBody>
                    <a:bodyPr/>
                    <a:lstStyle/>
                    <a:p>
                      <a:pPr algn="ctr" indent="0" marL="0">
                        <a:buNone/>
                      </a:pPr>
                      <a:r>
                        <a:rPr lang="en-US" sz="900" b="1" dirty="0">
                          <a:solidFill>
                            <a:srgbClr val="633627"/>
                          </a:solidFill>
                          <a:latin typeface="Arial" pitchFamily="34" charset="0"/>
                          <a:ea typeface="Arial" pitchFamily="34" charset="-122"/>
                          <a:cs typeface="Arial" pitchFamily="34" charset="-120"/>
                        </a:rPr>
                        <a:t>Conflicts ↑</a:t>
                      </a:r>
                      <a:endParaRPr lang="en-US" sz="900" dirty="0">
                        <a:latin typeface="Arial" charset="0"/>
                        <a:ea typeface="Arial" charset="0"/>
                        <a:cs typeface="Arial" charset="0"/>
                      </a:endParaRPr>
                    </a:p>
                    <a:p>
                      <a:pPr algn="ctr" indent="0" marL="0">
                        <a:buNone/>
                      </a:pPr>
                      <a:r>
                        <a:rPr lang="en-US" sz="750" dirty="0">
                          <a:solidFill>
                            <a:srgbClr val="6A7280"/>
                          </a:solidFill>
                          <a:latin typeface="Arial" pitchFamily="34" charset="0"/>
                          <a:ea typeface="Arial" pitchFamily="34" charset="-122"/>
                          <a:cs typeface="Arial" pitchFamily="34" charset="-120"/>
                        </a:rPr>
                        <a:t>same key, many objects</a:t>
                      </a:r>
                      <a:endParaRPr lang="en-US" sz="9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2D7D9"/>
                    </a:solidFill>
                  </a:tcPr>
                </a:tc>
              </a:tr>
              <a:tr h="347472">
                <a:tc>
                  <a:txBody>
                    <a:bodyPr/>
                    <a:lstStyle/>
                    <a:p>
                      <a:pPr algn="l" indent="0" marL="0">
                        <a:buNone/>
                      </a:pPr>
                      <a:r>
                        <a:rPr lang="en-US" sz="1100" b="1" dirty="0">
                          <a:solidFill>
                            <a:srgbClr val="18232D"/>
                          </a:solidFill>
                          <a:latin typeface="Arial" pitchFamily="34" charset="0"/>
                          <a:ea typeface="Arial" pitchFamily="34" charset="-122"/>
                          <a:cs typeface="Arial" pitchFamily="34" charset="-120"/>
                        </a:rPr>
                        <a:t>Linear attention only</a:t>
                      </a:r>
                      <a:endParaRPr lang="en-US" sz="1100" dirty="0">
                        <a:latin typeface="Arial" charset="0"/>
                        <a:ea typeface="Arial" charset="0"/>
                        <a:cs typeface="Arial" charset="0"/>
                      </a:endParaRPr>
                    </a:p>
                    <a:p>
                      <a:pPr algn="l" indent="0" marL="0">
                        <a:buNone/>
                      </a:pPr>
                      <a:r>
                        <a:rPr lang="en-US" sz="800" dirty="0">
                          <a:solidFill>
                            <a:srgbClr val="6A7280"/>
                          </a:solidFill>
                          <a:latin typeface="Arial" pitchFamily="34" charset="0"/>
                          <a:ea typeface="Arial" pitchFamily="34" charset="-122"/>
                          <a:cs typeface="Arial" pitchFamily="34" charset="-120"/>
                        </a:rPr>
                        <a:t>16 Gated DeltaNet layers</a:t>
                      </a:r>
                      <a:endParaRPr lang="en-US" sz="11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0 B</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6.68</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31.3</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18232D"/>
                          </a:solidFill>
                          <a:latin typeface="Arial" pitchFamily="34" charset="0"/>
                          <a:ea typeface="Arial" pitchFamily="34" charset="-122"/>
                          <a:cs typeface="Arial" pitchFamily="34" charset="-120"/>
                        </a:rPr>
                        <a:t>Hybrid (7:1)</a:t>
                      </a:r>
                      <a:endParaRPr lang="en-US" sz="1100" dirty="0">
                        <a:latin typeface="Arial" charset="0"/>
                        <a:ea typeface="Arial" charset="0"/>
                        <a:cs typeface="Arial" charset="0"/>
                      </a:endParaRPr>
                    </a:p>
                    <a:p>
                      <a:pPr algn="l" indent="0" marL="0">
                        <a:buNone/>
                      </a:pPr>
                      <a:r>
                        <a:rPr lang="en-US" sz="800" dirty="0">
                          <a:solidFill>
                            <a:srgbClr val="6A7280"/>
                          </a:solidFill>
                          <a:latin typeface="Arial" pitchFamily="34" charset="0"/>
                          <a:ea typeface="Arial" pitchFamily="34" charset="-122"/>
                          <a:cs typeface="Arial" pitchFamily="34" charset="-120"/>
                        </a:rPr>
                        <a:t>14 linear + 2 full attention layers</a:t>
                      </a:r>
                      <a:endParaRPr lang="en-US" sz="11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2,048 B</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5.64</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29.5</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8232D"/>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FFFFF"/>
                    </a:solidFill>
                  </a:tcPr>
                </a:tc>
              </a:tr>
              <a:tr h="347472">
                <a:tc>
                  <a:txBody>
                    <a:bodyPr/>
                    <a:lstStyle/>
                    <a:p>
                      <a:pPr algn="l" indent="0" marL="0">
                        <a:buNone/>
                      </a:pPr>
                      <a:r>
                        <a:rPr lang="en-US" sz="1100" b="1" dirty="0">
                          <a:solidFill>
                            <a:srgbClr val="7A1018"/>
                          </a:solidFill>
                          <a:latin typeface="Arial" pitchFamily="34" charset="0"/>
                          <a:ea typeface="Arial" pitchFamily="34" charset="-122"/>
                          <a:cs typeface="Arial" pitchFamily="34" charset="-120"/>
                        </a:rPr>
                        <a:t>Linear attention + ICE (ours)</a:t>
                      </a:r>
                      <a:endParaRPr lang="en-US" sz="1100" dirty="0">
                        <a:latin typeface="Arial" charset="0"/>
                        <a:ea typeface="Arial" charset="0"/>
                        <a:cs typeface="Arial" charset="0"/>
                      </a:endParaRPr>
                    </a:p>
                    <a:p>
                      <a:pPr algn="l" indent="0" marL="0">
                        <a:buNone/>
                      </a:pPr>
                      <a:r>
                        <a:rPr lang="en-US" sz="800" dirty="0">
                          <a:solidFill>
                            <a:srgbClr val="7A1018"/>
                          </a:solidFill>
                          <a:latin typeface="Arial" pitchFamily="34" charset="0"/>
                          <a:ea typeface="Arial" pitchFamily="34" charset="-122"/>
                          <a:cs typeface="Arial" pitchFamily="34" charset="-120"/>
                        </a:rPr>
                        <a:t>16 linear + exact lookup</a:t>
                      </a:r>
                      <a:endParaRPr lang="en-US" sz="11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9EDEE"/>
                    </a:solidFill>
                  </a:tcPr>
                </a:tc>
                <a:tc>
                  <a:txBody>
                    <a:bodyPr/>
                    <a:lstStyle/>
                    <a:p>
                      <a:pPr algn="ctr" indent="0" marL="0">
                        <a:buNone/>
                      </a:pPr>
                      <a:r>
                        <a:rPr lang="en-US" sz="1200" b="1" dirty="0">
                          <a:solidFill>
                            <a:srgbClr val="7A1018"/>
                          </a:solidFill>
                          <a:latin typeface="Arial" pitchFamily="34" charset="0"/>
                          <a:ea typeface="Arial" pitchFamily="34" charset="-122"/>
                          <a:cs typeface="Arial" pitchFamily="34" charset="-120"/>
                        </a:rPr>
                        <a:t>65–90 B</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9EDEE"/>
                    </a:solidFill>
                  </a:tcPr>
                </a:tc>
                <a:tc>
                  <a:txBody>
                    <a:bodyPr/>
                    <a:lstStyle/>
                    <a:p>
                      <a:pPr algn="ctr" indent="0" marL="0">
                        <a:buNone/>
                      </a:pPr>
                      <a:r>
                        <a:rPr lang="en-US" sz="1200" b="1" dirty="0">
                          <a:solidFill>
                            <a:srgbClr val="7A1018"/>
                          </a:solidFill>
                          <a:latin typeface="Arial" pitchFamily="34" charset="0"/>
                          <a:ea typeface="Arial" pitchFamily="34" charset="-122"/>
                          <a:cs typeface="Arial" pitchFamily="34" charset="-120"/>
                        </a:rPr>
                        <a:t>5.37</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9EDEE"/>
                    </a:solidFill>
                  </a:tcPr>
                </a:tc>
                <a:tc>
                  <a:txBody>
                    <a:bodyPr/>
                    <a:lstStyle/>
                    <a:p>
                      <a:pPr algn="ctr" indent="0" marL="0">
                        <a:buNone/>
                      </a:pPr>
                      <a:r>
                        <a:rPr lang="en-US" sz="1200" b="1" dirty="0">
                          <a:solidFill>
                            <a:srgbClr val="7A1018"/>
                          </a:solidFill>
                          <a:latin typeface="Arial" pitchFamily="34" charset="0"/>
                          <a:ea typeface="Arial" pitchFamily="34" charset="-122"/>
                          <a:cs typeface="Arial" pitchFamily="34" charset="-120"/>
                        </a:rPr>
                        <a:t>27.8</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9EDEE"/>
                    </a:solidFill>
                  </a:tcPr>
                </a:tc>
                <a:tc>
                  <a:txBody>
                    <a:bodyPr/>
                    <a:lstStyle/>
                    <a:p>
                      <a:pPr algn="ctr" indent="0" marL="0">
                        <a:buNone/>
                      </a:pPr>
                      <a:r>
                        <a:rPr lang="en-US" sz="1200" b="1" dirty="0">
                          <a:solidFill>
                            <a:srgbClr val="7A1018"/>
                          </a:solidFill>
                          <a:latin typeface="Arial" pitchFamily="34" charset="0"/>
                          <a:ea typeface="Arial" pitchFamily="34" charset="-122"/>
                          <a:cs typeface="Arial" pitchFamily="34" charset="-120"/>
                        </a:rPr>
                        <a:t>98%</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9EDEE"/>
                    </a:solidFill>
                  </a:tcPr>
                </a:tc>
                <a:tc>
                  <a:txBody>
                    <a:bodyPr/>
                    <a:lstStyle/>
                    <a:p>
                      <a:pPr algn="ctr" indent="0" marL="0">
                        <a:buNone/>
                      </a:pPr>
                      <a:r>
                        <a:rPr lang="en-US" sz="1200" b="1" dirty="0">
                          <a:solidFill>
                            <a:srgbClr val="7A1018"/>
                          </a:solidFill>
                          <a:latin typeface="Arial" pitchFamily="34" charset="0"/>
                          <a:ea typeface="Arial" pitchFamily="34" charset="-122"/>
                          <a:cs typeface="Arial" pitchFamily="34" charset="-120"/>
                        </a:rPr>
                        <a:t>82%</a:t>
                      </a:r>
                      <a:endParaRPr lang="en-US" sz="1200" dirty="0">
                        <a:latin typeface="Arial" charset="0"/>
                        <a:ea typeface="Arial" charset="0"/>
                        <a:cs typeface="Arial" charset="0"/>
                      </a:endParaRPr>
                    </a:p>
                  </a:txBody>
                  <a:tcPr marL="73152" marR="54864" marT="27432" marB="27432" anchor="ctr">
                    <a:lnL w="9525" cap="flat" cmpd="sng" algn="ctr">
                      <a:solidFill>
                        <a:srgbClr val="DDE2EA"/>
                      </a:solidFill>
                      <a:prstDash val="solid"/>
                      <a:round/>
                      <a:headEnd type="none" w="med" len="med"/>
                      <a:tailEnd type="none" w="med" len="med"/>
                    </a:lnL>
                    <a:lnR w="9525" cap="flat" cmpd="sng" algn="ctr">
                      <a:solidFill>
                        <a:srgbClr val="DDE2EA"/>
                      </a:solidFill>
                      <a:prstDash val="solid"/>
                      <a:round/>
                      <a:headEnd type="none" w="med" len="med"/>
                      <a:tailEnd type="none" w="med" len="med"/>
                    </a:lnR>
                    <a:lnT w="9525" cap="flat" cmpd="sng" algn="ctr">
                      <a:solidFill>
                        <a:srgbClr val="DDE2EA"/>
                      </a:solidFill>
                      <a:prstDash val="solid"/>
                      <a:round/>
                      <a:headEnd type="none" w="med" len="med"/>
                      <a:tailEnd type="none" w="med" len="med"/>
                    </a:lnT>
                    <a:lnB w="9525" cap="flat" cmpd="sng" algn="ctr">
                      <a:solidFill>
                        <a:srgbClr val="DDE2EA"/>
                      </a:solidFill>
                      <a:prstDash val="solid"/>
                      <a:round/>
                      <a:headEnd type="none" w="med" len="med"/>
                      <a:tailEnd type="none" w="med" len="med"/>
                    </a:lnB>
                    <a:solidFill>
                      <a:srgbClr val="F9EDEE"/>
                    </a:solidFill>
                  </a:tcPr>
                </a:tc>
              </a:tr>
            </a:tbl>
          </a:graphicData>
        </a:graphic>
      </p:graphicFrame>
      <p:sp>
        <p:nvSpPr>
          <p:cNvPr id="6" name="Text 2"/>
          <p:cNvSpPr txBox="1"/>
          <p:nvPr/>
        </p:nvSpPr>
        <p:spPr>
          <a:xfrm>
            <a:off x="365760" y="2944368"/>
            <a:ext cx="8412480" cy="256032"/>
          </a:xfrm>
          <a:prstGeom prst="rect">
            <a:avLst/>
          </a:prstGeom>
          <a:noFill/>
          <a:ln/>
        </p:spPr>
        <p:txBody>
          <a:bodyPr wrap="square" lIns="0" tIns="0" rIns="0" bIns="0" rtlCol="0" anchor="t"/>
          <a:lstStyle/>
          <a:p>
            <a:pPr indent="0" marL="0">
              <a:buNone/>
            </a:pPr>
            <a:r>
              <a:rPr lang="en-US" sz="850" dirty="0">
                <a:solidFill>
                  <a:srgbClr val="6A7280"/>
                </a:solidFill>
                <a:latin typeface="Arial" pitchFamily="34" charset="0"/>
                <a:ea typeface="Arial" pitchFamily="34" charset="-122"/>
                <a:cs typeface="Arial" pitchFamily="34" charset="-120"/>
              </a:rPr>
              <a:t>Held-out data, 4K context, the same items for every model. Needle in a haystack (Kamradt, 2023): a random code hidden in 4K tokens, must be exactly right. Conflicts (our test): several servers share the key port=; pick the right server's value (chance ≈ 11%).</a:t>
            </a:r>
            <a:endParaRPr lang="en-US" sz="850" dirty="0"/>
          </a:p>
        </p:txBody>
      </p:sp>
      <p:sp>
        <p:nvSpPr>
          <p:cNvPr id="7" name="tile 1"/>
          <p:cNvSpPr/>
          <p:nvPr/>
        </p:nvSpPr>
        <p:spPr>
          <a:xfrm>
            <a:off x="365760" y="3236976"/>
            <a:ext cx="2743200" cy="950976"/>
          </a:xfrm>
          <a:prstGeom prst="roundRect">
            <a:avLst>
              <a:gd name="adj" fmla="val 5769"/>
            </a:avLst>
          </a:prstGeom>
          <a:solidFill>
            <a:srgbClr val="FFFFFF"/>
          </a:solidFill>
          <a:ln w="9525">
            <a:solidFill>
              <a:srgbClr val="DDE2EA"/>
            </a:solidFill>
            <a:prstDash val="solid"/>
          </a:ln>
        </p:spPr>
      </p:sp>
      <p:sp>
        <p:nvSpPr>
          <p:cNvPr id="8" name="Text 4"/>
          <p:cNvSpPr txBox="1"/>
          <p:nvPr/>
        </p:nvSpPr>
        <p:spPr>
          <a:xfrm>
            <a:off x="484632" y="3300984"/>
            <a:ext cx="2505456" cy="310896"/>
          </a:xfrm>
          <a:prstGeom prst="rect">
            <a:avLst/>
          </a:prstGeom>
          <a:noFill/>
          <a:ln/>
        </p:spPr>
        <p:txBody>
          <a:bodyPr wrap="square" lIns="0" tIns="0" rIns="0" bIns="0" rtlCol="0" anchor="t"/>
          <a:lstStyle/>
          <a:p>
            <a:pPr indent="0" marL="0">
              <a:buNone/>
            </a:pPr>
            <a:r>
              <a:rPr lang="en-US" sz="2000" b="1" dirty="0">
                <a:solidFill>
                  <a:srgbClr val="7A1018"/>
                </a:solidFill>
                <a:latin typeface="Lexend" pitchFamily="34" charset="0"/>
                <a:ea typeface="Lexend" pitchFamily="34" charset="-122"/>
                <a:cs typeface="Lexend" pitchFamily="34" charset="-120"/>
              </a:rPr>
              <a:t>64%</a:t>
            </a:r>
            <a:endParaRPr lang="en-US" sz="2000" dirty="0"/>
          </a:p>
        </p:txBody>
      </p:sp>
      <p:sp>
        <p:nvSpPr>
          <p:cNvPr id="9" name="Text 5"/>
          <p:cNvSpPr txBox="1"/>
          <p:nvPr/>
        </p:nvSpPr>
        <p:spPr>
          <a:xfrm>
            <a:off x="484632" y="3621024"/>
            <a:ext cx="2505456" cy="292608"/>
          </a:xfrm>
          <a:prstGeom prst="rect">
            <a:avLst/>
          </a:prstGeom>
          <a:noFill/>
          <a:ln/>
        </p:spPr>
        <p:txBody>
          <a:bodyPr wrap="square" lIns="0" tIns="0" rIns="0" bIns="0" rtlCol="0" anchor="t"/>
          <a:lstStyle/>
          <a:p>
            <a:pPr indent="0" marL="0">
              <a:buNone/>
            </a:pPr>
            <a:r>
              <a:rPr lang="en-US" sz="1000" b="1" dirty="0">
                <a:solidFill>
                  <a:srgbClr val="18232D"/>
                </a:solidFill>
                <a:latin typeface="Arial" pitchFamily="34" charset="0"/>
                <a:ea typeface="Arial" pitchFamily="34" charset="-122"/>
                <a:cs typeface="Arial" pitchFamily="34" charset="-120"/>
              </a:rPr>
              <a:t>of repeated code lines completed exactly</a:t>
            </a:r>
            <a:endParaRPr lang="en-US" sz="1000" dirty="0"/>
          </a:p>
        </p:txBody>
      </p:sp>
      <p:sp>
        <p:nvSpPr>
          <p:cNvPr id="10" name="Text 6"/>
          <p:cNvSpPr txBox="1"/>
          <p:nvPr/>
        </p:nvSpPr>
        <p:spPr>
          <a:xfrm>
            <a:off x="484632" y="3913632"/>
            <a:ext cx="2523744" cy="256032"/>
          </a:xfrm>
          <a:prstGeom prst="rect">
            <a:avLst/>
          </a:prstGeom>
          <a:noFill/>
          <a:ln/>
        </p:spPr>
        <p:txBody>
          <a:bodyPr wrap="square" lIns="0" tIns="0" rIns="0" bIns="0" rtlCol="0" anchor="t"/>
          <a:lstStyle/>
          <a:p>
            <a:pPr indent="0" marL="0">
              <a:buNone/>
            </a:pPr>
            <a:r>
              <a:rPr lang="en-US" sz="850" dirty="0">
                <a:solidFill>
                  <a:srgbClr val="4A5568"/>
                </a:solidFill>
                <a:latin typeface="Arial" pitchFamily="34" charset="0"/>
                <a:ea typeface="Arial" pitchFamily="34" charset="-122"/>
                <a:cs typeface="Arial" pitchFamily="34" charset="-120"/>
              </a:rPr>
              <a:t>Hybrid 41%. All lines: 15.7% vs 11.8%.</a:t>
            </a:r>
            <a:endParaRPr lang="en-US" sz="850" dirty="0"/>
          </a:p>
        </p:txBody>
      </p:sp>
      <p:sp>
        <p:nvSpPr>
          <p:cNvPr id="11" name="tile 2"/>
          <p:cNvSpPr/>
          <p:nvPr/>
        </p:nvSpPr>
        <p:spPr>
          <a:xfrm>
            <a:off x="3200400" y="3236976"/>
            <a:ext cx="2743200" cy="950976"/>
          </a:xfrm>
          <a:prstGeom prst="roundRect">
            <a:avLst>
              <a:gd name="adj" fmla="val 5769"/>
            </a:avLst>
          </a:prstGeom>
          <a:solidFill>
            <a:srgbClr val="FFFFFF"/>
          </a:solidFill>
          <a:ln w="9525">
            <a:solidFill>
              <a:srgbClr val="DDE2EA"/>
            </a:solidFill>
            <a:prstDash val="solid"/>
          </a:ln>
        </p:spPr>
      </p:sp>
      <p:sp>
        <p:nvSpPr>
          <p:cNvPr id="12" name="Text 8"/>
          <p:cNvSpPr txBox="1"/>
          <p:nvPr/>
        </p:nvSpPr>
        <p:spPr>
          <a:xfrm>
            <a:off x="3319272" y="3300984"/>
            <a:ext cx="2505456" cy="310896"/>
          </a:xfrm>
          <a:prstGeom prst="rect">
            <a:avLst/>
          </a:prstGeom>
          <a:noFill/>
          <a:ln/>
        </p:spPr>
        <p:txBody>
          <a:bodyPr wrap="square" lIns="0" tIns="0" rIns="0" bIns="0" rtlCol="0" anchor="t"/>
          <a:lstStyle/>
          <a:p>
            <a:pPr indent="0" marL="0">
              <a:buNone/>
            </a:pPr>
            <a:r>
              <a:rPr lang="en-US" sz="2000" b="1" dirty="0">
                <a:solidFill>
                  <a:srgbClr val="7A1018"/>
                </a:solidFill>
                <a:latin typeface="Lexend" pitchFamily="34" charset="0"/>
                <a:ea typeface="Lexend" pitchFamily="34" charset="-122"/>
                <a:cs typeface="Lexend" pitchFamily="34" charset="-120"/>
              </a:rPr>
              <a:t>−6%</a:t>
            </a:r>
            <a:endParaRPr lang="en-US" sz="2000" dirty="0"/>
          </a:p>
        </p:txBody>
      </p:sp>
      <p:sp>
        <p:nvSpPr>
          <p:cNvPr id="13" name="Text 9"/>
          <p:cNvSpPr txBox="1"/>
          <p:nvPr/>
        </p:nvSpPr>
        <p:spPr>
          <a:xfrm>
            <a:off x="3319272" y="3621024"/>
            <a:ext cx="2505456" cy="292608"/>
          </a:xfrm>
          <a:prstGeom prst="rect">
            <a:avLst/>
          </a:prstGeom>
          <a:noFill/>
          <a:ln/>
        </p:spPr>
        <p:txBody>
          <a:bodyPr wrap="square" lIns="0" tIns="0" rIns="0" bIns="0" rtlCol="0" anchor="t"/>
          <a:lstStyle/>
          <a:p>
            <a:pPr indent="0" marL="0">
              <a:buNone/>
            </a:pPr>
            <a:r>
              <a:rPr lang="en-US" sz="1000" b="1" dirty="0">
                <a:solidFill>
                  <a:srgbClr val="18232D"/>
                </a:solidFill>
                <a:latin typeface="Arial" pitchFamily="34" charset="0"/>
                <a:ea typeface="Arial" pitchFamily="34" charset="-122"/>
                <a:cs typeface="Arial" pitchFamily="34" charset="-120"/>
              </a:rPr>
              <a:t>code perplexity for the hybrid with ICE</a:t>
            </a:r>
            <a:endParaRPr lang="en-US" sz="1000" dirty="0"/>
          </a:p>
        </p:txBody>
      </p:sp>
      <p:sp>
        <p:nvSpPr>
          <p:cNvPr id="14" name="Text 10"/>
          <p:cNvSpPr txBox="1"/>
          <p:nvPr/>
        </p:nvSpPr>
        <p:spPr>
          <a:xfrm>
            <a:off x="3319272" y="3913632"/>
            <a:ext cx="2523744" cy="256032"/>
          </a:xfrm>
          <a:prstGeom prst="rect">
            <a:avLst/>
          </a:prstGeom>
          <a:noFill/>
          <a:ln/>
        </p:spPr>
        <p:txBody>
          <a:bodyPr wrap="square" lIns="0" tIns="0" rIns="0" bIns="0" rtlCol="0" anchor="t"/>
          <a:lstStyle/>
          <a:p>
            <a:pPr indent="0" marL="0">
              <a:buNone/>
            </a:pPr>
            <a:r>
              <a:rPr lang="en-US" sz="850" dirty="0">
                <a:solidFill>
                  <a:srgbClr val="4A5568"/>
                </a:solidFill>
                <a:latin typeface="Arial" pitchFamily="34" charset="0"/>
                <a:ea typeface="Arial" pitchFamily="34" charset="-122"/>
                <a:cs typeface="Arial" pitchFamily="34" charset="-120"/>
              </a:rPr>
              <a:t>5.64 → 5.29: ICE helps full attention too.</a:t>
            </a:r>
            <a:endParaRPr lang="en-US" sz="850" dirty="0"/>
          </a:p>
        </p:txBody>
      </p:sp>
      <p:sp>
        <p:nvSpPr>
          <p:cNvPr id="15" name="tile 3"/>
          <p:cNvSpPr/>
          <p:nvPr/>
        </p:nvSpPr>
        <p:spPr>
          <a:xfrm>
            <a:off x="6035040" y="3236976"/>
            <a:ext cx="2743200" cy="950976"/>
          </a:xfrm>
          <a:prstGeom prst="roundRect">
            <a:avLst>
              <a:gd name="adj" fmla="val 5769"/>
            </a:avLst>
          </a:prstGeom>
          <a:solidFill>
            <a:srgbClr val="FFFFFF"/>
          </a:solidFill>
          <a:ln w="9525">
            <a:solidFill>
              <a:srgbClr val="DDE2EA"/>
            </a:solidFill>
            <a:prstDash val="solid"/>
          </a:ln>
        </p:spPr>
      </p:sp>
      <p:sp>
        <p:nvSpPr>
          <p:cNvPr id="16" name="Text 12"/>
          <p:cNvSpPr txBox="1"/>
          <p:nvPr/>
        </p:nvSpPr>
        <p:spPr>
          <a:xfrm>
            <a:off x="6153912" y="3300984"/>
            <a:ext cx="2505456" cy="310896"/>
          </a:xfrm>
          <a:prstGeom prst="rect">
            <a:avLst/>
          </a:prstGeom>
          <a:noFill/>
          <a:ln/>
        </p:spPr>
        <p:txBody>
          <a:bodyPr wrap="square" lIns="0" tIns="0" rIns="0" bIns="0" rtlCol="0" anchor="t"/>
          <a:lstStyle/>
          <a:p>
            <a:pPr indent="0" marL="0">
              <a:buNone/>
            </a:pPr>
            <a:r>
              <a:rPr lang="en-US" sz="2000" b="1" dirty="0">
                <a:solidFill>
                  <a:srgbClr val="7A1018"/>
                </a:solidFill>
                <a:latin typeface="Lexend" pitchFamily="34" charset="0"/>
                <a:ea typeface="Lexend" pitchFamily="34" charset="-122"/>
                <a:cs typeface="Lexend" pitchFamily="34" charset="-120"/>
              </a:rPr>
              <a:t>No harm</a:t>
            </a:r>
            <a:endParaRPr lang="en-US" sz="2000" dirty="0"/>
          </a:p>
        </p:txBody>
      </p:sp>
      <p:sp>
        <p:nvSpPr>
          <p:cNvPr id="17" name="Text 13"/>
          <p:cNvSpPr txBox="1"/>
          <p:nvPr/>
        </p:nvSpPr>
        <p:spPr>
          <a:xfrm>
            <a:off x="6153912" y="3621024"/>
            <a:ext cx="2505456" cy="292608"/>
          </a:xfrm>
          <a:prstGeom prst="rect">
            <a:avLst/>
          </a:prstGeom>
          <a:noFill/>
          <a:ln/>
        </p:spPr>
        <p:txBody>
          <a:bodyPr wrap="square" lIns="0" tIns="0" rIns="0" bIns="0" rtlCol="0" anchor="t"/>
          <a:lstStyle/>
          <a:p>
            <a:pPr indent="0" marL="0">
              <a:buNone/>
            </a:pPr>
            <a:r>
              <a:rPr lang="en-US" sz="1000" b="1" dirty="0">
                <a:solidFill>
                  <a:srgbClr val="18232D"/>
                </a:solidFill>
                <a:latin typeface="Arial" pitchFamily="34" charset="0"/>
                <a:ea typeface="Arial" pitchFamily="34" charset="-122"/>
                <a:cs typeface="Arial" pitchFamily="34" charset="-120"/>
              </a:rPr>
              <a:t>when the lookup is wrong</a:t>
            </a:r>
            <a:endParaRPr lang="en-US" sz="1000" dirty="0"/>
          </a:p>
        </p:txBody>
      </p:sp>
      <p:sp>
        <p:nvSpPr>
          <p:cNvPr id="18" name="Text 14"/>
          <p:cNvSpPr txBox="1"/>
          <p:nvPr/>
        </p:nvSpPr>
        <p:spPr>
          <a:xfrm>
            <a:off x="6153912" y="3913632"/>
            <a:ext cx="2523744" cy="256032"/>
          </a:xfrm>
          <a:prstGeom prst="rect">
            <a:avLst/>
          </a:prstGeom>
          <a:noFill/>
          <a:ln/>
        </p:spPr>
        <p:txBody>
          <a:bodyPr wrap="square" lIns="0" tIns="0" rIns="0" bIns="0" rtlCol="0" anchor="t"/>
          <a:lstStyle/>
          <a:p>
            <a:pPr indent="0" marL="0">
              <a:buNone/>
            </a:pPr>
            <a:r>
              <a:rPr lang="en-US" sz="850" dirty="0">
                <a:solidFill>
                  <a:srgbClr val="4A5568"/>
                </a:solidFill>
                <a:latin typeface="Arial" pitchFamily="34" charset="0"/>
                <a:ea typeface="Arial" pitchFamily="34" charset="-122"/>
                <a:cs typeface="Arial" pitchFamily="34" charset="-120"/>
              </a:rPr>
              <a:t>35% of code tokens. Perplexity there: 24.7, vs 24.9 without ICE.</a:t>
            </a:r>
            <a:endParaRPr lang="en-US" sz="850" dirty="0"/>
          </a:p>
        </p:txBody>
      </p:sp>
      <p:sp>
        <p:nvSpPr>
          <p:cNvPr id="19" name="limitations"/>
          <p:cNvSpPr/>
          <p:nvPr/>
        </p:nvSpPr>
        <p:spPr>
          <a:xfrm>
            <a:off x="365760" y="4297680"/>
            <a:ext cx="8412480" cy="402336"/>
          </a:xfrm>
          <a:prstGeom prst="roundRect">
            <a:avLst>
              <a:gd name="adj" fmla="val 13636"/>
            </a:avLst>
          </a:prstGeom>
          <a:solidFill>
            <a:srgbClr val="F9EDEE"/>
          </a:solidFill>
          <a:ln w="12700">
            <a:solidFill>
              <a:srgbClr val="F9EDEE"/>
            </a:solidFill>
            <a:prstDash val="solid"/>
          </a:ln>
        </p:spPr>
      </p:sp>
      <p:sp>
        <p:nvSpPr>
          <p:cNvPr id="20" name="Text 16"/>
          <p:cNvSpPr txBox="1"/>
          <p:nvPr/>
        </p:nvSpPr>
        <p:spPr>
          <a:xfrm>
            <a:off x="502920" y="4306824"/>
            <a:ext cx="8183880" cy="384048"/>
          </a:xfrm>
          <a:prstGeom prst="rect">
            <a:avLst/>
          </a:prstGeom>
          <a:noFill/>
          <a:ln/>
        </p:spPr>
        <p:txBody>
          <a:bodyPr wrap="square" lIns="0" tIns="0" rIns="0" bIns="0" rtlCol="0" anchor="ctr"/>
          <a:lstStyle/>
          <a:p>
            <a:pPr indent="0" marL="0">
              <a:buNone/>
            </a:pPr>
            <a:r>
              <a:rPr lang="en-US" sz="950" b="1" dirty="0">
                <a:solidFill>
                  <a:srgbClr val="7A1018"/>
                </a:solidFill>
                <a:latin typeface="Arial" pitchFamily="34" charset="0"/>
                <a:ea typeface="Arial" pitchFamily="34" charset="-122"/>
                <a:cs typeface="Arial" pitchFamily="34" charset="-120"/>
              </a:rPr>
              <a:t>Limitations  </a:t>
            </a:r>
            <a:pPr indent="0" marL="0">
              <a:buNone/>
            </a:pPr>
            <a:r>
              <a:rPr lang="en-US" sz="950" dirty="0">
                <a:solidFill>
                  <a:srgbClr val="18232D"/>
                </a:solidFill>
                <a:latin typeface="Arial" pitchFamily="34" charset="0"/>
                <a:ea typeface="Arial" pitchFamily="34" charset="-122"/>
                <a:cs typeface="Arial" pitchFamily="34" charset="-120"/>
              </a:rPr>
              <a:t>An exact lookup cannot help with reworded questions, or with a value later changed in a different form (it copies the old one).  </a:t>
            </a:r>
            <a:pPr indent="0" marL="0">
              <a:buNone/>
            </a:pPr>
            <a:r>
              <a:rPr lang="en-US" sz="950" b="1" dirty="0">
                <a:solidFill>
                  <a:srgbClr val="7A1018"/>
                </a:solidFill>
                <a:latin typeface="Arial" pitchFamily="34" charset="0"/>
                <a:ea typeface="Arial" pitchFamily="34" charset="-122"/>
                <a:cs typeface="Arial" pitchFamily="34" charset="-120"/>
              </a:rPr>
              <a:t>Next  </a:t>
            </a:r>
            <a:pPr indent="0" marL="0">
              <a:buNone/>
            </a:pPr>
            <a:r>
              <a:rPr lang="en-US" sz="950" dirty="0">
                <a:solidFill>
                  <a:srgbClr val="18232D"/>
                </a:solidFill>
                <a:latin typeface="Arial" pitchFamily="34" charset="0"/>
                <a:ea typeface="Arial" pitchFamily="34" charset="-122"/>
                <a:cs typeface="Arial" pitchFamily="34" charset="-120"/>
              </a:rPr>
              <a:t>3× longer training · pretrained models.</a:t>
            </a:r>
            <a:endParaRPr lang="en-US" sz="950" dirty="0"/>
          </a:p>
        </p:txBody>
      </p:sp>
      <p:sp>
        <p:nvSpPr>
          <p:cNvPr id="21" name="Slide Number Placeholder 0"/>
          <p:cNvSpPr>
            <a:spLocks noGrp="1"/>
          </p:cNvSpPr>
          <p:nvPr>
            <p:ph type="sldNum" sz="quarter" idx="4294967295"/>
          </p:nvPr>
        </p:nvSpPr>
        <p:spPr>
          <a:xfrm>
            <a:off x="832104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A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theme/theme1.xml><?xml version="1.0" encoding="utf-8"?>
<a:theme xmlns:a="http://schemas.openxmlformats.org/drawingml/2006/main" name="GStar ICE">
  <a:themeElements>
    <a:clrScheme name="GStar ICE">
      <a:dk1>
        <a:srgbClr val="18232D"/>
      </a:dk1>
      <a:lt1>
        <a:srgbClr val="FFFFFF"/>
      </a:lt1>
      <a:dk2>
        <a:srgbClr val="731114"/>
      </a:dk2>
      <a:lt2>
        <a:srgbClr val="F9EDEE"/>
      </a:lt2>
      <a:accent1>
        <a:srgbClr val="7A1018"/>
      </a:accent1>
      <a:accent2>
        <a:srgbClr val="F4CCCC"/>
      </a:accent2>
      <a:accent3>
        <a:srgbClr val="F2D7D9"/>
      </a:accent3>
      <a:accent4>
        <a:srgbClr val="6A7280"/>
      </a:accent4>
      <a:accent5>
        <a:srgbClr val="9AA5B5"/>
      </a:accent5>
      <a:accent6>
        <a:srgbClr val="4A5568"/>
      </a:accent6>
      <a:hlink>
        <a:srgbClr val="7A1018"/>
      </a:hlink>
      <a:folHlink>
        <a:srgbClr val="731114"/>
      </a:folHlink>
    </a:clrScheme>
    <a:fontScheme name="GStar ICE">
      <a:majorFont>
        <a:latin typeface="Lexe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ICE: In-Context Exact Memory for linear attention language models</dc:title>
  <dc:subject>PptxGenJS Presentation</dc:subject>
  <dc:creator>Phung Gia Huy</dc:creator>
  <cp:lastModifiedBy>Phung Gia Huy</cp:lastModifiedBy>
  <cp:revision>1</cp:revision>
  <dcterms:created xsi:type="dcterms:W3CDTF">2026-10-27T15:21:27Z</dcterms:created>
  <dcterms:modified xsi:type="dcterms:W3CDTF">2026-10-27T15:21:27Z</dcterms:modified>
</cp:coreProperties>
</file>